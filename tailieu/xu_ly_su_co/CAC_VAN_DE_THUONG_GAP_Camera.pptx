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0" r:id="rId3"/>
    <p:sldId id="259" r:id="rId4"/>
    <p:sldId id="271" r:id="rId5"/>
    <p:sldId id="272" r:id="rId6"/>
    <p:sldId id="267" r:id="rId7"/>
    <p:sldId id="265" r:id="rId8"/>
    <p:sldId id="258" r:id="rId9"/>
    <p:sldId id="269" r:id="rId10"/>
    <p:sldId id="262" r:id="rId11"/>
    <p:sldId id="263" r:id="rId12"/>
    <p:sldId id="266" r:id="rId13"/>
    <p:sldId id="268" r:id="rId14"/>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A7F481-D481-4CD7-B3C3-95B80C188BCB}" type="datetimeFigureOut">
              <a:rPr lang="vi-VN" smtClean="0"/>
              <a:t>16/12/2025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525E91-09F9-43E4-BDA7-6303FCB4E467}" type="slidenum">
              <a:rPr lang="vi-VN" smtClean="0"/>
              <a:t>‹#›</a:t>
            </a:fld>
            <a:endParaRPr lang="vi-VN"/>
          </a:p>
        </p:txBody>
      </p:sp>
    </p:spTree>
    <p:extLst>
      <p:ext uri="{BB962C8B-B14F-4D97-AF65-F5344CB8AC3E}">
        <p14:creationId xmlns:p14="http://schemas.microsoft.com/office/powerpoint/2010/main" val="376341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3E7D8-F54C-6A17-8C89-216DD02CD9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752DE227-412B-8FFE-1A44-39A027B69D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A2C64F00-C315-3184-CF36-33C6CBBEFFF8}"/>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5" name="Footer Placeholder 4">
            <a:extLst>
              <a:ext uri="{FF2B5EF4-FFF2-40B4-BE49-F238E27FC236}">
                <a16:creationId xmlns:a16="http://schemas.microsoft.com/office/drawing/2014/main" id="{2BF6170A-04AA-51DA-A99C-2B56D770E35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0325352-1D71-F764-24AB-707A48179D00}"/>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1666239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B7DD9-A809-B6E6-6507-99F43F4FBD8D}"/>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B97F8B6A-0676-4DEA-3D42-7C7D0400CE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EF55588-2C37-FEF1-B054-8E55B5EE6C69}"/>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5" name="Footer Placeholder 4">
            <a:extLst>
              <a:ext uri="{FF2B5EF4-FFF2-40B4-BE49-F238E27FC236}">
                <a16:creationId xmlns:a16="http://schemas.microsoft.com/office/drawing/2014/main" id="{FD5E7631-2ACC-4FD2-DC82-BEB93825E8E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79B15F34-9A19-24D2-F4BE-A3171804A7A2}"/>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219202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BF171-6C2B-68C8-E566-89FD8BCB89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0CE8B207-7BF4-8EB0-A0B7-04EF96DF70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EF18C9-AB20-8D5B-1BF6-550E4C7AF2AF}"/>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5" name="Footer Placeholder 4">
            <a:extLst>
              <a:ext uri="{FF2B5EF4-FFF2-40B4-BE49-F238E27FC236}">
                <a16:creationId xmlns:a16="http://schemas.microsoft.com/office/drawing/2014/main" id="{61DE2F30-9C07-B9C9-C8B4-38F2906FCF8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602A38DD-1984-B398-9464-6B0738BD8A21}"/>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1075036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6DD19-022C-CDEC-A88F-2922331A06C3}"/>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42E657A8-D91F-E8C0-6D78-0E96AB57C9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CA8DC1E3-E029-F425-CBF9-F25A2AD7CB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1FB08961-D503-072E-A67F-D52AC95B4649}"/>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6" name="Footer Placeholder 5">
            <a:extLst>
              <a:ext uri="{FF2B5EF4-FFF2-40B4-BE49-F238E27FC236}">
                <a16:creationId xmlns:a16="http://schemas.microsoft.com/office/drawing/2014/main" id="{3B61425C-8A79-AC5A-8EC5-64C3C560D498}"/>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BCCF161-819B-628A-0FA3-C1ED5C3605BF}"/>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2937996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6D4A-830A-B6CB-8EAD-5273BB9EA347}"/>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A64FED41-584F-E4EB-6D3C-243A316A2B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24964E-59A1-C18A-2F35-43D47751E6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10025AAC-BE27-41C6-9F05-411C9179D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7D42B5-F033-F783-F533-7D6FB395E9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83393F94-EC34-8C65-A0B1-F2E5FD58173F}"/>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8" name="Footer Placeholder 7">
            <a:extLst>
              <a:ext uri="{FF2B5EF4-FFF2-40B4-BE49-F238E27FC236}">
                <a16:creationId xmlns:a16="http://schemas.microsoft.com/office/drawing/2014/main" id="{4D94D1DA-596D-3C17-2B70-9B415571FE00}"/>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0525C831-B3C9-2918-0219-52632883C8EC}"/>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269615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4758E-C0A3-E5D6-CCD1-B277579F361D}"/>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D7176453-7C79-9F53-95EF-E18FC9F55315}"/>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4" name="Footer Placeholder 3">
            <a:extLst>
              <a:ext uri="{FF2B5EF4-FFF2-40B4-BE49-F238E27FC236}">
                <a16:creationId xmlns:a16="http://schemas.microsoft.com/office/drawing/2014/main" id="{70DE9424-B89D-AA30-774C-A3168071B4CE}"/>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4FE4631B-4C51-7F01-27A3-ACCE7F79E449}"/>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1577968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63B826-66EE-8927-9A5F-08E6AB1ACDA4}"/>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3" name="Footer Placeholder 2">
            <a:extLst>
              <a:ext uri="{FF2B5EF4-FFF2-40B4-BE49-F238E27FC236}">
                <a16:creationId xmlns:a16="http://schemas.microsoft.com/office/drawing/2014/main" id="{3A5F21FC-3838-8C6F-DECE-5D2914BC255E}"/>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9EB61E8B-D6A8-A64E-F1E2-752CF48DCD1B}"/>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1212907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8730A-0995-08D6-379D-CD3635FB92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17921751-996F-41D8-B461-1B65CA96EE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4D6947F5-895D-C16B-66EE-0C4D4A0546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7A9BB6-FB6E-09A1-753D-2956874CE331}"/>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6" name="Footer Placeholder 5">
            <a:extLst>
              <a:ext uri="{FF2B5EF4-FFF2-40B4-BE49-F238E27FC236}">
                <a16:creationId xmlns:a16="http://schemas.microsoft.com/office/drawing/2014/main" id="{1B6F1092-E006-7B2B-AE59-85062A058949}"/>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B8872AA0-0043-6D80-D5B6-1E1AB27E8151}"/>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3027584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58D5-F0AD-C5E5-D810-A2ED568E25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85A0086A-1728-6209-EDF6-5EE8BAAD76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553242E9-3C48-AC31-9F1A-EE7946CCD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10C854-AADB-967E-B2DB-12C2BC6FD07C}"/>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6" name="Footer Placeholder 5">
            <a:extLst>
              <a:ext uri="{FF2B5EF4-FFF2-40B4-BE49-F238E27FC236}">
                <a16:creationId xmlns:a16="http://schemas.microsoft.com/office/drawing/2014/main" id="{AA32A926-6022-A711-0119-F474CB55341D}"/>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179E3BD7-7217-DB0D-8060-0D0357CB87A4}"/>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1473723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881D3-86CD-8505-9680-31D79E28DBEE}"/>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737CEAC7-69CF-D80A-EFCF-DE72FB2241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9F5E109-B9EE-BA47-FB0F-E5A1FAB46B7C}"/>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5" name="Footer Placeholder 4">
            <a:extLst>
              <a:ext uri="{FF2B5EF4-FFF2-40B4-BE49-F238E27FC236}">
                <a16:creationId xmlns:a16="http://schemas.microsoft.com/office/drawing/2014/main" id="{8B4CBFFB-11AC-A423-DBB0-F3D9364E127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1136F492-4357-3C06-5E94-CCC0A1F66F4C}"/>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3876361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579B9C-1925-B664-BFB0-A68B74898C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64919060-8044-E6F5-0FAC-0AA05B01E2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C3BF4495-6C12-9E99-0D60-6F65486F32F0}"/>
              </a:ext>
            </a:extLst>
          </p:cNvPr>
          <p:cNvSpPr>
            <a:spLocks noGrp="1"/>
          </p:cNvSpPr>
          <p:nvPr>
            <p:ph type="dt" sz="half" idx="10"/>
          </p:nvPr>
        </p:nvSpPr>
        <p:spPr/>
        <p:txBody>
          <a:bodyPr/>
          <a:lstStyle/>
          <a:p>
            <a:fld id="{6C826F7B-879F-4FE0-9A01-F48AD1BF434B}" type="datetimeFigureOut">
              <a:rPr lang="vi-VN" smtClean="0"/>
              <a:t>16/12/2025</a:t>
            </a:fld>
            <a:endParaRPr lang="vi-VN"/>
          </a:p>
        </p:txBody>
      </p:sp>
      <p:sp>
        <p:nvSpPr>
          <p:cNvPr id="5" name="Footer Placeholder 4">
            <a:extLst>
              <a:ext uri="{FF2B5EF4-FFF2-40B4-BE49-F238E27FC236}">
                <a16:creationId xmlns:a16="http://schemas.microsoft.com/office/drawing/2014/main" id="{74217DA5-FBBA-115D-283F-B44458BFEEF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BE896FD0-84BC-96CF-B9D9-5FAED1412962}"/>
              </a:ext>
            </a:extLst>
          </p:cNvPr>
          <p:cNvSpPr>
            <a:spLocks noGrp="1"/>
          </p:cNvSpPr>
          <p:nvPr>
            <p:ph type="sldNum" sz="quarter" idx="12"/>
          </p:nvPr>
        </p:nvSpPr>
        <p:spPr/>
        <p:txBody>
          <a:bodyPr/>
          <a:lstStyle/>
          <a:p>
            <a:fld id="{1EDDE280-BCDC-42C3-A0CA-BF7197E24623}" type="slidenum">
              <a:rPr lang="vi-VN" smtClean="0"/>
              <a:t>‹#›</a:t>
            </a:fld>
            <a:endParaRPr lang="vi-VN"/>
          </a:p>
        </p:txBody>
      </p:sp>
    </p:spTree>
    <p:extLst>
      <p:ext uri="{BB962C8B-B14F-4D97-AF65-F5344CB8AC3E}">
        <p14:creationId xmlns:p14="http://schemas.microsoft.com/office/powerpoint/2010/main" val="4269049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20C047-45E1-519E-3814-D7D49C060C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D8631EE-B3C4-4D0E-4E63-95C66BD8FA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FAAC526-DF7C-CEB8-EC8D-132AFEE797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826F7B-879F-4FE0-9A01-F48AD1BF434B}" type="datetimeFigureOut">
              <a:rPr lang="vi-VN" smtClean="0"/>
              <a:t>16/12/2025</a:t>
            </a:fld>
            <a:endParaRPr lang="vi-VN"/>
          </a:p>
        </p:txBody>
      </p:sp>
      <p:sp>
        <p:nvSpPr>
          <p:cNvPr id="5" name="Footer Placeholder 4">
            <a:extLst>
              <a:ext uri="{FF2B5EF4-FFF2-40B4-BE49-F238E27FC236}">
                <a16:creationId xmlns:a16="http://schemas.microsoft.com/office/drawing/2014/main" id="{D1F54CD3-8EF7-41AD-25D5-F22918ABCE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BEF801D3-7154-A6B1-7767-DBFC3BD41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DDE280-BCDC-42C3-A0CA-BF7197E24623}" type="slidenum">
              <a:rPr lang="vi-VN" smtClean="0"/>
              <a:t>‹#›</a:t>
            </a:fld>
            <a:endParaRPr lang="vi-VN"/>
          </a:p>
        </p:txBody>
      </p:sp>
    </p:spTree>
    <p:extLst>
      <p:ext uri="{BB962C8B-B14F-4D97-AF65-F5344CB8AC3E}">
        <p14:creationId xmlns:p14="http://schemas.microsoft.com/office/powerpoint/2010/main" val="3355902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ticket.fpt.net/"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ticket.fpt.net/"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4486B7-0A9C-6C49-740F-F40BA4A5F803}"/>
              </a:ext>
            </a:extLst>
          </p:cNvPr>
          <p:cNvSpPr>
            <a:spLocks noGrp="1"/>
          </p:cNvSpPr>
          <p:nvPr>
            <p:ph type="ctrTitle"/>
          </p:nvPr>
        </p:nvSpPr>
        <p:spPr>
          <a:xfrm>
            <a:off x="0" y="3519447"/>
            <a:ext cx="7208667" cy="508624"/>
          </a:xfrm>
        </p:spPr>
        <p:txBody>
          <a:bodyPr anchor="b">
            <a:normAutofit fontScale="90000"/>
          </a:bodyPr>
          <a:lstStyle/>
          <a:p>
            <a:pPr algn="l"/>
            <a:r>
              <a:rPr lang="en-US" sz="3600">
                <a:solidFill>
                  <a:schemeClr val="bg1"/>
                </a:solidFill>
              </a:rPr>
              <a:t>CÁC VẤN ĐỀ THƯỜNG GẶP VÀ</a:t>
            </a:r>
            <a:br>
              <a:rPr lang="en-US" sz="3600">
                <a:solidFill>
                  <a:schemeClr val="bg1"/>
                </a:solidFill>
              </a:rPr>
            </a:br>
            <a:r>
              <a:rPr lang="en-US" sz="3600">
                <a:solidFill>
                  <a:schemeClr val="bg1"/>
                </a:solidFill>
              </a:rPr>
              <a:t>CÁCH XỬ LÝ</a:t>
            </a:r>
          </a:p>
        </p:txBody>
      </p:sp>
      <p:sp>
        <p:nvSpPr>
          <p:cNvPr id="5" name="Subtitle 2">
            <a:extLst>
              <a:ext uri="{FF2B5EF4-FFF2-40B4-BE49-F238E27FC236}">
                <a16:creationId xmlns:a16="http://schemas.microsoft.com/office/drawing/2014/main" id="{9B1A59D5-36A5-8319-671F-8032232865E2}"/>
              </a:ext>
            </a:extLst>
          </p:cNvPr>
          <p:cNvSpPr>
            <a:spLocks noGrp="1"/>
          </p:cNvSpPr>
          <p:nvPr>
            <p:ph type="subTitle" idx="1"/>
          </p:nvPr>
        </p:nvSpPr>
        <p:spPr>
          <a:xfrm>
            <a:off x="0" y="2173707"/>
            <a:ext cx="7972693" cy="1164846"/>
          </a:xfrm>
        </p:spPr>
        <p:txBody>
          <a:bodyPr vert="horz" lIns="91440" tIns="45720" rIns="91440" bIns="45720" rtlCol="0" anchor="t">
            <a:noAutofit/>
          </a:bodyPr>
          <a:lstStyle/>
          <a:p>
            <a:pPr algn="l"/>
            <a:r>
              <a:rPr lang="en-US" sz="4000" b="1">
                <a:solidFill>
                  <a:schemeClr val="bg1"/>
                </a:solidFill>
                <a:latin typeface="Times New Roman"/>
                <a:cs typeface="Times New Roman"/>
              </a:rPr>
              <a:t>FPT LIFE</a:t>
            </a:r>
            <a:endParaRPr lang="en-US" b="1">
              <a:solidFill>
                <a:schemeClr val="bg1"/>
              </a:solidFill>
            </a:endParaRPr>
          </a:p>
        </p:txBody>
      </p:sp>
      <p:pic>
        <p:nvPicPr>
          <p:cNvPr id="8" name="Picture 6" descr="FPT Telecom – FPT Telecom">
            <a:extLst>
              <a:ext uri="{FF2B5EF4-FFF2-40B4-BE49-F238E27FC236}">
                <a16:creationId xmlns:a16="http://schemas.microsoft.com/office/drawing/2014/main" id="{6ED42D36-E790-7F6A-DBB8-6E86CE3665E4}"/>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2EDD474-E7C5-D011-3C9A-5DC435B2654E}"/>
              </a:ext>
            </a:extLst>
          </p:cNvPr>
          <p:cNvSpPr txBox="1"/>
          <p:nvPr/>
        </p:nvSpPr>
        <p:spPr>
          <a:xfrm>
            <a:off x="219044" y="1675306"/>
            <a:ext cx="11123720" cy="1200329"/>
          </a:xfrm>
          <a:prstGeom prst="rect">
            <a:avLst/>
          </a:prstGeom>
          <a:noFill/>
        </p:spPr>
        <p:txBody>
          <a:bodyPr wrap="square" rtlCol="0">
            <a:spAutoFit/>
          </a:bodyPr>
          <a:lstStyle/>
          <a:p>
            <a:r>
              <a:rPr lang="vi-VN" b="1">
                <a:solidFill>
                  <a:srgbClr val="002060"/>
                </a:solidFill>
                <a:latin typeface="Times New Roman" panose="02020603050405020304" pitchFamily="18" charset="0"/>
                <a:cs typeface="Times New Roman" panose="02020603050405020304" pitchFamily="18" charset="0"/>
              </a:rPr>
              <a:t>B1:</a:t>
            </a:r>
            <a:r>
              <a:rPr lang="en-US" b="1">
                <a:solidFill>
                  <a:srgbClr val="002060"/>
                </a:solidFill>
                <a:latin typeface="Times New Roman" panose="02020603050405020304" pitchFamily="18" charset="0"/>
                <a:cs typeface="Times New Roman" panose="02020603050405020304" pitchFamily="18" charset="0"/>
              </a:rPr>
              <a:t> </a:t>
            </a:r>
            <a:r>
              <a:rPr lang="en-US">
                <a:solidFill>
                  <a:srgbClr val="002060"/>
                </a:solidFill>
                <a:latin typeface="Times New Roman" panose="02020603050405020304" pitchFamily="18" charset="0"/>
                <a:cs typeface="Times New Roman" panose="02020603050405020304" pitchFamily="18" charset="0"/>
              </a:rPr>
              <a:t>Vào web</a:t>
            </a:r>
            <a:r>
              <a:rPr lang="vi-VN">
                <a:solidFill>
                  <a:srgbClr val="002060"/>
                </a:solidFill>
                <a:latin typeface="Times New Roman" panose="02020603050405020304" pitchFamily="18" charset="0"/>
                <a:cs typeface="Times New Roman" panose="02020603050405020304" pitchFamily="18" charset="0"/>
              </a:rPr>
              <a:t> </a:t>
            </a:r>
            <a:r>
              <a:rPr lang="vi-VN">
                <a:solidFill>
                  <a:srgbClr val="0563C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http://ticket.fpt.net</a:t>
            </a:r>
            <a:r>
              <a:rPr lang="vi-VN">
                <a:solidFill>
                  <a:srgbClr val="00206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t>
            </a:r>
            <a:endParaRPr lang="en-US">
              <a:solidFill>
                <a:srgbClr val="002060"/>
              </a:solidFill>
              <a:latin typeface="Times New Roman" panose="02020603050405020304" pitchFamily="18" charset="0"/>
              <a:cs typeface="Times New Roman" panose="02020603050405020304" pitchFamily="18" charset="0"/>
            </a:endParaRPr>
          </a:p>
          <a:p>
            <a:r>
              <a:rPr lang="vi-VN" b="1">
                <a:solidFill>
                  <a:srgbClr val="002060"/>
                </a:solidFill>
                <a:latin typeface="Times New Roman" panose="02020603050405020304" pitchFamily="18" charset="0"/>
                <a:cs typeface="Times New Roman" panose="02020603050405020304" pitchFamily="18" charset="0"/>
              </a:rPr>
              <a:t>B2: </a:t>
            </a:r>
            <a:r>
              <a:rPr lang="vi-VN">
                <a:solidFill>
                  <a:srgbClr val="002060"/>
                </a:solidFill>
                <a:latin typeface="Times New Roman" panose="02020603050405020304" pitchFamily="18" charset="0"/>
                <a:cs typeface="Times New Roman" panose="02020603050405020304" pitchFamily="18" charset="0"/>
              </a:rPr>
              <a:t>C</a:t>
            </a:r>
            <a:r>
              <a:rPr lang="en-US">
                <a:solidFill>
                  <a:srgbClr val="002060"/>
                </a:solidFill>
                <a:latin typeface="Times New Roman" panose="02020603050405020304" pitchFamily="18" charset="0"/>
                <a:cs typeface="Times New Roman" panose="02020603050405020304" pitchFamily="18" charset="0"/>
              </a:rPr>
              <a:t>họn mục Hỗ trợ kỹ thuật- Tạo ticket V2</a:t>
            </a:r>
            <a:endParaRPr lang="vi-VN">
              <a:solidFill>
                <a:srgbClr val="002060"/>
              </a:solidFill>
              <a:latin typeface="Times New Roman" panose="02020603050405020304" pitchFamily="18" charset="0"/>
              <a:cs typeface="Times New Roman" panose="02020603050405020304" pitchFamily="18" charset="0"/>
            </a:endParaRPr>
          </a:p>
          <a:p>
            <a:r>
              <a:rPr lang="vi-VN" b="1">
                <a:solidFill>
                  <a:srgbClr val="002060"/>
                </a:solidFill>
                <a:latin typeface="Times New Roman" panose="02020603050405020304" pitchFamily="18" charset="0"/>
                <a:cs typeface="Times New Roman" panose="02020603050405020304" pitchFamily="18" charset="0"/>
              </a:rPr>
              <a:t>B3:</a:t>
            </a:r>
            <a:r>
              <a:rPr lang="en-US" b="1">
                <a:solidFill>
                  <a:srgbClr val="002060"/>
                </a:solidFill>
                <a:latin typeface="Times New Roman" panose="02020603050405020304" pitchFamily="18" charset="0"/>
                <a:cs typeface="Times New Roman" panose="02020603050405020304" pitchFamily="18" charset="0"/>
              </a:rPr>
              <a:t> </a:t>
            </a:r>
            <a:r>
              <a:rPr lang="en-US">
                <a:solidFill>
                  <a:srgbClr val="002060"/>
                </a:solidFill>
                <a:latin typeface="Times New Roman" panose="02020603050405020304" pitchFamily="18" charset="0"/>
                <a:cs typeface="Times New Roman" panose="02020603050405020304" pitchFamily="18" charset="0"/>
              </a:rPr>
              <a:t>Chọn FLI- HTKT=&gt; Chọn mục “ Khác”</a:t>
            </a:r>
          </a:p>
          <a:p>
            <a:r>
              <a:rPr lang="en-US">
                <a:solidFill>
                  <a:srgbClr val="002060"/>
                </a:solidFill>
                <a:latin typeface="Times New Roman" panose="02020603050405020304" pitchFamily="18" charset="0"/>
                <a:cs typeface="Times New Roman" panose="02020603050405020304" pitchFamily="18" charset="0"/>
              </a:rPr>
              <a:t>Lưu ý: Nhập đúng thông tin SĐT</a:t>
            </a:r>
          </a:p>
        </p:txBody>
      </p:sp>
      <p:sp>
        <p:nvSpPr>
          <p:cNvPr id="10" name="TextBox 9">
            <a:extLst>
              <a:ext uri="{FF2B5EF4-FFF2-40B4-BE49-F238E27FC236}">
                <a16:creationId xmlns:a16="http://schemas.microsoft.com/office/drawing/2014/main" id="{1586C61E-28DB-1067-0415-23E5E1ED878D}"/>
              </a:ext>
            </a:extLst>
          </p:cNvPr>
          <p:cNvSpPr txBox="1"/>
          <p:nvPr/>
        </p:nvSpPr>
        <p:spPr>
          <a:xfrm>
            <a:off x="0" y="677045"/>
            <a:ext cx="12192000" cy="707886"/>
          </a:xfrm>
          <a:prstGeom prst="rect">
            <a:avLst/>
          </a:prstGeom>
          <a:noFill/>
        </p:spPr>
        <p:txBody>
          <a:bodyPr wrap="square" rtlCol="0">
            <a:spAutoFit/>
          </a:bodyPr>
          <a:lstStyle/>
          <a:p>
            <a:r>
              <a:rPr lang="vi-VN" sz="2000" b="1">
                <a:solidFill>
                  <a:srgbClr val="F57226"/>
                </a:solidFill>
                <a:latin typeface="Times New Roman" panose="02020603050405020304" pitchFamily="18" charset="0"/>
                <a:cs typeface="Times New Roman" panose="02020603050405020304" pitchFamily="18" charset="0"/>
              </a:rPr>
              <a:t>Đăng nhập tài khoản </a:t>
            </a:r>
            <a:r>
              <a:rPr lang="en-US" sz="2000" b="1" err="1">
                <a:solidFill>
                  <a:srgbClr val="F57226"/>
                </a:solidFill>
                <a:latin typeface="Times New Roman" panose="02020603050405020304" pitchFamily="18" charset="0"/>
                <a:cs typeface="Times New Roman" panose="02020603050405020304" pitchFamily="18" charset="0"/>
              </a:rPr>
              <a:t>hiển</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thị</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thông</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báo</a:t>
            </a:r>
            <a:r>
              <a:rPr lang="en-US" sz="2000" b="1">
                <a:solidFill>
                  <a:srgbClr val="F57226"/>
                </a:solidFill>
                <a:latin typeface="Times New Roman" panose="02020603050405020304" pitchFamily="18" charset="0"/>
                <a:cs typeface="Times New Roman" panose="02020603050405020304" pitchFamily="18" charset="0"/>
              </a:rPr>
              <a:t> </a:t>
            </a:r>
            <a:r>
              <a:rPr lang="vi-VN" sz="2000" b="1">
                <a:solidFill>
                  <a:srgbClr val="F57226"/>
                </a:solidFill>
                <a:latin typeface="Times New Roman" panose="02020603050405020304" pitchFamily="18" charset="0"/>
                <a:cs typeface="Times New Roman" panose="02020603050405020304" pitchFamily="18" charset="0"/>
              </a:rPr>
              <a:t>"Tài khoản này đã được xóa. Xin vui lòng liên hệ 19006600 để được hỗ trợ thêm thông tin"</a:t>
            </a:r>
            <a:endParaRPr lang="en-US" sz="2000" b="1">
              <a:solidFill>
                <a:srgbClr val="F57226"/>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B3F2C30-A9CC-2270-E82E-2BC5F19AB3C9}"/>
              </a:ext>
            </a:extLst>
          </p:cNvPr>
          <p:cNvSpPr txBox="1"/>
          <p:nvPr/>
        </p:nvSpPr>
        <p:spPr>
          <a:xfrm>
            <a:off x="568715" y="5996289"/>
            <a:ext cx="4296793" cy="369332"/>
          </a:xfrm>
          <a:prstGeom prst="rect">
            <a:avLst/>
          </a:prstGeom>
          <a:noFill/>
        </p:spPr>
        <p:txBody>
          <a:bodyPr wrap="square" rtlCol="0">
            <a:spAutoFit/>
          </a:bodyPr>
          <a:lstStyle/>
          <a:p>
            <a:pPr algn="ctr"/>
            <a:r>
              <a:rPr lang="en-US">
                <a:solidFill>
                  <a:schemeClr val="accent5">
                    <a:lumMod val="50000"/>
                  </a:schemeClr>
                </a:solidFill>
                <a:latin typeface="Times New Roman" panose="02020603050405020304" pitchFamily="18" charset="0"/>
                <a:cs typeface="Times New Roman" panose="02020603050405020304" pitchFamily="18" charset="0"/>
              </a:rPr>
              <a:t>Tạo ticket V2</a:t>
            </a:r>
            <a:endParaRPr lang="vi-VN">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677691F9-A631-E986-C637-496CE770973E}"/>
              </a:ext>
            </a:extLst>
          </p:cNvPr>
          <p:cNvSpPr txBox="1"/>
          <p:nvPr/>
        </p:nvSpPr>
        <p:spPr>
          <a:xfrm>
            <a:off x="6900136" y="5996289"/>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Hiển thị trên app</a:t>
            </a:r>
            <a:endParaRPr lang="vi-VN">
              <a:solidFill>
                <a:srgbClr val="FF0000"/>
              </a:solidFill>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41E42DBF-C8CA-9F27-9505-5F58CC7B83F5}"/>
              </a:ext>
            </a:extLst>
          </p:cNvPr>
          <p:cNvPicPr>
            <a:picLocks noChangeAspect="1"/>
          </p:cNvPicPr>
          <p:nvPr/>
        </p:nvPicPr>
        <p:blipFill>
          <a:blip r:embed="rId4"/>
          <a:stretch>
            <a:fillRect/>
          </a:stretch>
        </p:blipFill>
        <p:spPr>
          <a:xfrm>
            <a:off x="6900136" y="3243589"/>
            <a:ext cx="3877158" cy="1833461"/>
          </a:xfrm>
          <a:prstGeom prst="rect">
            <a:avLst/>
          </a:prstGeom>
        </p:spPr>
      </p:pic>
      <p:pic>
        <p:nvPicPr>
          <p:cNvPr id="7" name="Picture 6">
            <a:extLst>
              <a:ext uri="{FF2B5EF4-FFF2-40B4-BE49-F238E27FC236}">
                <a16:creationId xmlns:a16="http://schemas.microsoft.com/office/drawing/2014/main" id="{DA2226DF-E03A-229C-32F6-6AA20FC214AF}"/>
              </a:ext>
            </a:extLst>
          </p:cNvPr>
          <p:cNvPicPr>
            <a:picLocks noChangeAspect="1"/>
          </p:cNvPicPr>
          <p:nvPr/>
        </p:nvPicPr>
        <p:blipFill>
          <a:blip r:embed="rId5"/>
          <a:stretch>
            <a:fillRect/>
          </a:stretch>
        </p:blipFill>
        <p:spPr>
          <a:xfrm>
            <a:off x="115930" y="3243590"/>
            <a:ext cx="5820852" cy="2491386"/>
          </a:xfrm>
          <a:prstGeom prst="rect">
            <a:avLst/>
          </a:prstGeom>
        </p:spPr>
      </p:pic>
    </p:spTree>
    <p:extLst>
      <p:ext uri="{BB962C8B-B14F-4D97-AF65-F5344CB8AC3E}">
        <p14:creationId xmlns:p14="http://schemas.microsoft.com/office/powerpoint/2010/main" val="137024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7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E9804-E62D-2D45-B749-6927F980FFFB}"/>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B27F42DA-89DD-BFCE-18A9-A9E54A8DF222}"/>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C527C1C-4C6F-B45E-F578-3D6365416119}"/>
              </a:ext>
            </a:extLst>
          </p:cNvPr>
          <p:cNvSpPr txBox="1"/>
          <p:nvPr/>
        </p:nvSpPr>
        <p:spPr>
          <a:xfrm>
            <a:off x="0" y="677045"/>
            <a:ext cx="12192000" cy="400110"/>
          </a:xfrm>
          <a:prstGeom prst="rect">
            <a:avLst/>
          </a:prstGeom>
          <a:noFill/>
        </p:spPr>
        <p:txBody>
          <a:bodyPr wrap="square" rtlCol="0">
            <a:spAutoFit/>
          </a:bodyPr>
          <a:lstStyle/>
          <a:p>
            <a:r>
              <a:rPr lang="en-US" sz="2000" b="1">
                <a:solidFill>
                  <a:srgbClr val="F57226"/>
                </a:solidFill>
                <a:latin typeface="Times New Roman" panose="02020603050405020304" pitchFamily="18" charset="0"/>
                <a:cs typeface="Times New Roman" panose="02020603050405020304" pitchFamily="18" charset="0"/>
              </a:rPr>
              <a:t>Khi </a:t>
            </a:r>
            <a:r>
              <a:rPr lang="en-US" sz="2000" b="1" err="1">
                <a:solidFill>
                  <a:srgbClr val="F57226"/>
                </a:solidFill>
                <a:latin typeface="Times New Roman" panose="02020603050405020304" pitchFamily="18" charset="0"/>
                <a:cs typeface="Times New Roman" panose="02020603050405020304" pitchFamily="18" charset="0"/>
              </a:rPr>
              <a:t>thêm</a:t>
            </a:r>
            <a:r>
              <a:rPr lang="en-US" sz="2000" b="1">
                <a:solidFill>
                  <a:srgbClr val="F57226"/>
                </a:solidFill>
                <a:latin typeface="Times New Roman" panose="02020603050405020304" pitchFamily="18" charset="0"/>
                <a:cs typeface="Times New Roman" panose="02020603050405020304" pitchFamily="18" charset="0"/>
              </a:rPr>
              <a:t> camera </a:t>
            </a:r>
            <a:r>
              <a:rPr lang="en-US" sz="2000" b="1" err="1">
                <a:solidFill>
                  <a:srgbClr val="F57226"/>
                </a:solidFill>
                <a:latin typeface="Times New Roman" panose="02020603050405020304" pitchFamily="18" charset="0"/>
                <a:cs typeface="Times New Roman" panose="02020603050405020304" pitchFamily="18" charset="0"/>
              </a:rPr>
              <a:t>có</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thông</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báo</a:t>
            </a:r>
            <a:r>
              <a:rPr lang="en-US" sz="2000" b="1">
                <a:solidFill>
                  <a:srgbClr val="F57226"/>
                </a:solidFill>
                <a:latin typeface="Times New Roman" panose="02020603050405020304" pitchFamily="18" charset="0"/>
                <a:cs typeface="Times New Roman" panose="02020603050405020304" pitchFamily="18" charset="0"/>
              </a:rPr>
              <a:t> “Camera </a:t>
            </a:r>
            <a:r>
              <a:rPr lang="en-US" sz="2000" b="1" err="1">
                <a:solidFill>
                  <a:srgbClr val="F57226"/>
                </a:solidFill>
                <a:latin typeface="Times New Roman" panose="02020603050405020304" pitchFamily="18" charset="0"/>
                <a:cs typeface="Times New Roman" panose="02020603050405020304" pitchFamily="18" charset="0"/>
              </a:rPr>
              <a:t>không</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tồn</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tại</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trên</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hệ</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thống</a:t>
            </a:r>
            <a:r>
              <a:rPr lang="en-US" sz="2000" b="1">
                <a:solidFill>
                  <a:srgbClr val="F57226"/>
                </a:solidFill>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2655ED3B-49B3-0A33-77F8-2EEF04B07EED}"/>
              </a:ext>
            </a:extLst>
          </p:cNvPr>
          <p:cNvSpPr txBox="1"/>
          <p:nvPr/>
        </p:nvSpPr>
        <p:spPr>
          <a:xfrm>
            <a:off x="106532" y="1237131"/>
            <a:ext cx="9321281" cy="1200329"/>
          </a:xfrm>
          <a:prstGeom prst="rect">
            <a:avLst/>
          </a:prstGeom>
          <a:noFill/>
        </p:spPr>
        <p:txBody>
          <a:bodyPr wrap="square" rtlCol="0">
            <a:spAutoFit/>
          </a:bodyPr>
          <a:lstStyle/>
          <a:p>
            <a:r>
              <a:rPr lang="vi-VN" b="1">
                <a:solidFill>
                  <a:srgbClr val="002060"/>
                </a:solidFill>
                <a:latin typeface="Times New Roman" panose="02020603050405020304" pitchFamily="18" charset="0"/>
                <a:cs typeface="Times New Roman" panose="02020603050405020304" pitchFamily="18" charset="0"/>
              </a:rPr>
              <a:t>B1:</a:t>
            </a:r>
            <a:r>
              <a:rPr lang="en-US" b="1">
                <a:solidFill>
                  <a:srgbClr val="002060"/>
                </a:solidFill>
                <a:latin typeface="Times New Roman" panose="02020603050405020304" pitchFamily="18" charset="0"/>
                <a:cs typeface="Times New Roman" panose="02020603050405020304" pitchFamily="18" charset="0"/>
              </a:rPr>
              <a:t> </a:t>
            </a:r>
            <a:r>
              <a:rPr lang="en-US">
                <a:solidFill>
                  <a:srgbClr val="002060"/>
                </a:solidFill>
                <a:latin typeface="Times New Roman" panose="02020603050405020304" pitchFamily="18" charset="0"/>
                <a:cs typeface="Times New Roman" panose="02020603050405020304" pitchFamily="18" charset="0"/>
              </a:rPr>
              <a:t>Vào web</a:t>
            </a:r>
            <a:r>
              <a:rPr lang="vi-VN">
                <a:solidFill>
                  <a:srgbClr val="002060"/>
                </a:solidFill>
                <a:latin typeface="Times New Roman" panose="02020603050405020304" pitchFamily="18" charset="0"/>
                <a:cs typeface="Times New Roman" panose="02020603050405020304" pitchFamily="18" charset="0"/>
              </a:rPr>
              <a:t> </a:t>
            </a:r>
            <a:r>
              <a:rPr lang="vi-VN">
                <a:solidFill>
                  <a:srgbClr val="0563C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http://ticket.fpt.net</a:t>
            </a:r>
            <a:r>
              <a:rPr lang="vi-VN">
                <a:solidFill>
                  <a:srgbClr val="00206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t>
            </a:r>
            <a:endParaRPr lang="en-US">
              <a:solidFill>
                <a:srgbClr val="002060"/>
              </a:solidFill>
              <a:latin typeface="Times New Roman" panose="02020603050405020304" pitchFamily="18" charset="0"/>
              <a:cs typeface="Times New Roman" panose="02020603050405020304" pitchFamily="18" charset="0"/>
            </a:endParaRPr>
          </a:p>
          <a:p>
            <a:r>
              <a:rPr lang="vi-VN" b="1">
                <a:solidFill>
                  <a:srgbClr val="002060"/>
                </a:solidFill>
                <a:latin typeface="Times New Roman" panose="02020603050405020304" pitchFamily="18" charset="0"/>
                <a:cs typeface="Times New Roman" panose="02020603050405020304" pitchFamily="18" charset="0"/>
              </a:rPr>
              <a:t>B2: </a:t>
            </a:r>
            <a:r>
              <a:rPr lang="vi-VN">
                <a:solidFill>
                  <a:srgbClr val="002060"/>
                </a:solidFill>
                <a:latin typeface="Times New Roman" panose="02020603050405020304" pitchFamily="18" charset="0"/>
                <a:cs typeface="Times New Roman" panose="02020603050405020304" pitchFamily="18" charset="0"/>
              </a:rPr>
              <a:t>C</a:t>
            </a:r>
            <a:r>
              <a:rPr lang="en-US">
                <a:solidFill>
                  <a:srgbClr val="002060"/>
                </a:solidFill>
                <a:latin typeface="Times New Roman" panose="02020603050405020304" pitchFamily="18" charset="0"/>
                <a:cs typeface="Times New Roman" panose="02020603050405020304" pitchFamily="18" charset="0"/>
              </a:rPr>
              <a:t>họn mục Hỗ trợ kỹ thuật- Tạo ticket V2</a:t>
            </a:r>
            <a:endParaRPr lang="vi-VN">
              <a:solidFill>
                <a:srgbClr val="002060"/>
              </a:solidFill>
              <a:latin typeface="Times New Roman" panose="02020603050405020304" pitchFamily="18" charset="0"/>
              <a:cs typeface="Times New Roman" panose="02020603050405020304" pitchFamily="18" charset="0"/>
            </a:endParaRPr>
          </a:p>
          <a:p>
            <a:r>
              <a:rPr lang="vi-VN" b="1">
                <a:solidFill>
                  <a:srgbClr val="002060"/>
                </a:solidFill>
                <a:latin typeface="Times New Roman" panose="02020603050405020304" pitchFamily="18" charset="0"/>
                <a:cs typeface="Times New Roman" panose="02020603050405020304" pitchFamily="18" charset="0"/>
              </a:rPr>
              <a:t>B3:</a:t>
            </a:r>
            <a:r>
              <a:rPr lang="en-US" b="1">
                <a:solidFill>
                  <a:srgbClr val="002060"/>
                </a:solidFill>
                <a:latin typeface="Times New Roman" panose="02020603050405020304" pitchFamily="18" charset="0"/>
                <a:cs typeface="Times New Roman" panose="02020603050405020304" pitchFamily="18" charset="0"/>
              </a:rPr>
              <a:t> </a:t>
            </a:r>
            <a:r>
              <a:rPr lang="en-US">
                <a:solidFill>
                  <a:srgbClr val="002060"/>
                </a:solidFill>
                <a:latin typeface="Times New Roman" panose="02020603050405020304" pitchFamily="18" charset="0"/>
                <a:cs typeface="Times New Roman" panose="02020603050405020304" pitchFamily="18" charset="0"/>
              </a:rPr>
              <a:t>Chọn FLI- HTKT=&gt; Camera không tồn tại hệ thống</a:t>
            </a:r>
          </a:p>
          <a:p>
            <a:r>
              <a:rPr lang="en-US">
                <a:solidFill>
                  <a:srgbClr val="002060"/>
                </a:solidFill>
                <a:latin typeface="Times New Roman" panose="02020603050405020304" pitchFamily="18" charset="0"/>
                <a:cs typeface="Times New Roman" panose="02020603050405020304" pitchFamily="18" charset="0"/>
              </a:rPr>
              <a:t>Lưu ý: Nhập đúng thông tin SN camera</a:t>
            </a:r>
          </a:p>
        </p:txBody>
      </p:sp>
      <p:pic>
        <p:nvPicPr>
          <p:cNvPr id="3" name="Picture 2">
            <a:extLst>
              <a:ext uri="{FF2B5EF4-FFF2-40B4-BE49-F238E27FC236}">
                <a16:creationId xmlns:a16="http://schemas.microsoft.com/office/drawing/2014/main" id="{BDE2565D-EA13-B685-A825-B64D22FE5796}"/>
              </a:ext>
            </a:extLst>
          </p:cNvPr>
          <p:cNvPicPr>
            <a:picLocks noChangeAspect="1"/>
          </p:cNvPicPr>
          <p:nvPr/>
        </p:nvPicPr>
        <p:blipFill>
          <a:blip r:embed="rId4"/>
          <a:stretch>
            <a:fillRect/>
          </a:stretch>
        </p:blipFill>
        <p:spPr>
          <a:xfrm>
            <a:off x="7040043" y="2524426"/>
            <a:ext cx="4190209" cy="3297931"/>
          </a:xfrm>
          <a:prstGeom prst="rect">
            <a:avLst/>
          </a:prstGeom>
        </p:spPr>
      </p:pic>
      <p:pic>
        <p:nvPicPr>
          <p:cNvPr id="5" name="Picture 4">
            <a:extLst>
              <a:ext uri="{FF2B5EF4-FFF2-40B4-BE49-F238E27FC236}">
                <a16:creationId xmlns:a16="http://schemas.microsoft.com/office/drawing/2014/main" id="{B2ED7086-5D41-E420-D6FC-E64D18E21B09}"/>
              </a:ext>
            </a:extLst>
          </p:cNvPr>
          <p:cNvPicPr>
            <a:picLocks noChangeAspect="1"/>
          </p:cNvPicPr>
          <p:nvPr/>
        </p:nvPicPr>
        <p:blipFill>
          <a:blip r:embed="rId5"/>
          <a:stretch>
            <a:fillRect/>
          </a:stretch>
        </p:blipFill>
        <p:spPr>
          <a:xfrm>
            <a:off x="325169" y="2524426"/>
            <a:ext cx="6389706" cy="2804832"/>
          </a:xfrm>
          <a:prstGeom prst="rect">
            <a:avLst/>
          </a:prstGeom>
        </p:spPr>
      </p:pic>
      <p:sp>
        <p:nvSpPr>
          <p:cNvPr id="6" name="TextBox 5">
            <a:extLst>
              <a:ext uri="{FF2B5EF4-FFF2-40B4-BE49-F238E27FC236}">
                <a16:creationId xmlns:a16="http://schemas.microsoft.com/office/drawing/2014/main" id="{612C2805-F0F6-68BE-291A-5D17B7CE350D}"/>
              </a:ext>
            </a:extLst>
          </p:cNvPr>
          <p:cNvSpPr txBox="1"/>
          <p:nvPr/>
        </p:nvSpPr>
        <p:spPr>
          <a:xfrm>
            <a:off x="728513" y="5973518"/>
            <a:ext cx="4296793" cy="369332"/>
          </a:xfrm>
          <a:prstGeom prst="rect">
            <a:avLst/>
          </a:prstGeom>
          <a:noFill/>
        </p:spPr>
        <p:txBody>
          <a:bodyPr wrap="square" rtlCol="0">
            <a:spAutoFit/>
          </a:bodyPr>
          <a:lstStyle/>
          <a:p>
            <a:pPr algn="ctr"/>
            <a:r>
              <a:rPr lang="en-US">
                <a:solidFill>
                  <a:schemeClr val="accent5">
                    <a:lumMod val="50000"/>
                  </a:schemeClr>
                </a:solidFill>
                <a:latin typeface="Times New Roman" panose="02020603050405020304" pitchFamily="18" charset="0"/>
                <a:cs typeface="Times New Roman" panose="02020603050405020304" pitchFamily="18" charset="0"/>
              </a:rPr>
              <a:t>Tạo ticket V2</a:t>
            </a:r>
            <a:endParaRPr lang="vi-VN">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218205B-63D0-3510-64DE-D9EF9A64D8F4}"/>
              </a:ext>
            </a:extLst>
          </p:cNvPr>
          <p:cNvSpPr txBox="1"/>
          <p:nvPr/>
        </p:nvSpPr>
        <p:spPr>
          <a:xfrm>
            <a:off x="7279416" y="5973518"/>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Hiển thị trên app</a:t>
            </a:r>
            <a:endParaRPr lang="vi-VN">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3512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3ECB3-8A17-C1B4-91C3-E12078F967D5}"/>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355E36FF-979D-0239-B57C-9B68BDC36D65}"/>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9685C6E-EBFC-9F15-8EE9-B470A17782D6}"/>
              </a:ext>
            </a:extLst>
          </p:cNvPr>
          <p:cNvSpPr txBox="1"/>
          <p:nvPr/>
        </p:nvSpPr>
        <p:spPr>
          <a:xfrm>
            <a:off x="0" y="677045"/>
            <a:ext cx="12192000" cy="400110"/>
          </a:xfrm>
          <a:prstGeom prst="rect">
            <a:avLst/>
          </a:prstGeom>
          <a:noFill/>
        </p:spPr>
        <p:txBody>
          <a:bodyPr wrap="square" rtlCol="0">
            <a:spAutoFit/>
          </a:bodyPr>
          <a:lstStyle/>
          <a:p>
            <a:r>
              <a:rPr lang="en-US" sz="2000" b="1">
                <a:solidFill>
                  <a:srgbClr val="F57226"/>
                </a:solidFill>
                <a:latin typeface="Times New Roman" panose="02020603050405020304" pitchFamily="18" charset="0"/>
                <a:cs typeface="Times New Roman" panose="02020603050405020304" pitchFamily="18" charset="0"/>
              </a:rPr>
              <a:t>Khi </a:t>
            </a:r>
            <a:r>
              <a:rPr lang="en-US" sz="2000" b="1" err="1">
                <a:solidFill>
                  <a:srgbClr val="F57226"/>
                </a:solidFill>
                <a:latin typeface="Times New Roman" panose="02020603050405020304" pitchFamily="18" charset="0"/>
                <a:cs typeface="Times New Roman" panose="02020603050405020304" pitchFamily="18" charset="0"/>
              </a:rPr>
              <a:t>thêm</a:t>
            </a:r>
            <a:r>
              <a:rPr lang="en-US" sz="2000" b="1">
                <a:solidFill>
                  <a:srgbClr val="F57226"/>
                </a:solidFill>
                <a:latin typeface="Times New Roman" panose="02020603050405020304" pitchFamily="18" charset="0"/>
                <a:cs typeface="Times New Roman" panose="02020603050405020304" pitchFamily="18" charset="0"/>
              </a:rPr>
              <a:t> camera </a:t>
            </a:r>
            <a:r>
              <a:rPr lang="en-US" sz="2000" b="1" err="1">
                <a:solidFill>
                  <a:srgbClr val="F57226"/>
                </a:solidFill>
                <a:latin typeface="Times New Roman" panose="02020603050405020304" pitchFamily="18" charset="0"/>
                <a:cs typeface="Times New Roman" panose="02020603050405020304" pitchFamily="18" charset="0"/>
              </a:rPr>
              <a:t>có</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thông</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báo</a:t>
            </a:r>
            <a:r>
              <a:rPr lang="en-US" sz="2000" b="1">
                <a:solidFill>
                  <a:srgbClr val="F57226"/>
                </a:solidFill>
                <a:latin typeface="Times New Roman" panose="02020603050405020304" pitchFamily="18" charset="0"/>
                <a:cs typeface="Times New Roman" panose="02020603050405020304" pitchFamily="18" charset="0"/>
              </a:rPr>
              <a:t> “Camera </a:t>
            </a:r>
            <a:r>
              <a:rPr lang="en-US" sz="2000" b="1" err="1">
                <a:solidFill>
                  <a:srgbClr val="F57226"/>
                </a:solidFill>
                <a:latin typeface="Times New Roman" panose="02020603050405020304" pitchFamily="18" charset="0"/>
                <a:cs typeface="Times New Roman" panose="02020603050405020304" pitchFamily="18" charset="0"/>
              </a:rPr>
              <a:t>này</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đã</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có</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người</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sở</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hữu</a:t>
            </a:r>
            <a:r>
              <a:rPr lang="en-US" sz="2000" b="1">
                <a:solidFill>
                  <a:srgbClr val="F57226"/>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8FAD4A57-8A1F-B4D4-F7DC-233E0B8F7D41}"/>
              </a:ext>
            </a:extLst>
          </p:cNvPr>
          <p:cNvPicPr>
            <a:picLocks noChangeAspect="1"/>
          </p:cNvPicPr>
          <p:nvPr/>
        </p:nvPicPr>
        <p:blipFill>
          <a:blip r:embed="rId3"/>
          <a:stretch>
            <a:fillRect/>
          </a:stretch>
        </p:blipFill>
        <p:spPr>
          <a:xfrm>
            <a:off x="7792467" y="1774424"/>
            <a:ext cx="3371850" cy="2971800"/>
          </a:xfrm>
          <a:prstGeom prst="rect">
            <a:avLst/>
          </a:prstGeom>
        </p:spPr>
      </p:pic>
      <p:sp>
        <p:nvSpPr>
          <p:cNvPr id="4" name="TextBox 3">
            <a:extLst>
              <a:ext uri="{FF2B5EF4-FFF2-40B4-BE49-F238E27FC236}">
                <a16:creationId xmlns:a16="http://schemas.microsoft.com/office/drawing/2014/main" id="{CAD9BC71-8A2E-9944-BF8A-1E2E6FC438FD}"/>
              </a:ext>
            </a:extLst>
          </p:cNvPr>
          <p:cNvSpPr txBox="1"/>
          <p:nvPr/>
        </p:nvSpPr>
        <p:spPr>
          <a:xfrm>
            <a:off x="7590134" y="4979219"/>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Hiển thị trên app</a:t>
            </a:r>
            <a:endParaRPr lang="vi-VN">
              <a:solidFill>
                <a:srgbClr val="FF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FCDA088-A38F-034A-3AC0-9FDD7659101E}"/>
              </a:ext>
            </a:extLst>
          </p:cNvPr>
          <p:cNvPicPr>
            <a:picLocks noChangeAspect="1"/>
          </p:cNvPicPr>
          <p:nvPr/>
        </p:nvPicPr>
        <p:blipFill>
          <a:blip r:embed="rId4"/>
          <a:stretch>
            <a:fillRect/>
          </a:stretch>
        </p:blipFill>
        <p:spPr>
          <a:xfrm>
            <a:off x="1027682" y="1774423"/>
            <a:ext cx="4457699" cy="2971799"/>
          </a:xfrm>
          <a:prstGeom prst="rect">
            <a:avLst/>
          </a:prstGeom>
        </p:spPr>
      </p:pic>
      <p:sp>
        <p:nvSpPr>
          <p:cNvPr id="9" name="TextBox 8">
            <a:extLst>
              <a:ext uri="{FF2B5EF4-FFF2-40B4-BE49-F238E27FC236}">
                <a16:creationId xmlns:a16="http://schemas.microsoft.com/office/drawing/2014/main" id="{3B74FB3B-5A60-7060-F759-556DA2C205C6}"/>
              </a:ext>
            </a:extLst>
          </p:cNvPr>
          <p:cNvSpPr txBox="1"/>
          <p:nvPr/>
        </p:nvSpPr>
        <p:spPr>
          <a:xfrm>
            <a:off x="989808" y="4979219"/>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Tạo SR xử lý</a:t>
            </a:r>
            <a:endParaRPr lang="vi-VN">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1465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2E13A-D143-445C-068A-2F74485C4E42}"/>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69F40780-B12C-33BE-CF6E-F87C644AF4D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FC25F65-D839-4A82-3A92-B872A91A12C7}"/>
              </a:ext>
            </a:extLst>
          </p:cNvPr>
          <p:cNvSpPr txBox="1"/>
          <p:nvPr/>
        </p:nvSpPr>
        <p:spPr>
          <a:xfrm>
            <a:off x="0" y="677045"/>
            <a:ext cx="12192000" cy="400110"/>
          </a:xfrm>
          <a:prstGeom prst="rect">
            <a:avLst/>
          </a:prstGeom>
          <a:noFill/>
        </p:spPr>
        <p:txBody>
          <a:bodyPr wrap="square" rtlCol="0">
            <a:spAutoFit/>
          </a:bodyPr>
          <a:lstStyle/>
          <a:p>
            <a:r>
              <a:rPr lang="en-US" sz="2000" b="1">
                <a:solidFill>
                  <a:srgbClr val="F57226"/>
                </a:solidFill>
                <a:latin typeface="Times New Roman" panose="02020603050405020304" pitchFamily="18" charset="0"/>
                <a:cs typeface="Times New Roman" panose="02020603050405020304" pitchFamily="18" charset="0"/>
              </a:rPr>
              <a:t>Hiển thị tạm dừng quan sát vui lòng kiểm tra chỉnh sách để tiếp tục sử dụng dịch vụ</a:t>
            </a:r>
          </a:p>
        </p:txBody>
      </p:sp>
      <p:sp>
        <p:nvSpPr>
          <p:cNvPr id="4" name="TextBox 3">
            <a:extLst>
              <a:ext uri="{FF2B5EF4-FFF2-40B4-BE49-F238E27FC236}">
                <a16:creationId xmlns:a16="http://schemas.microsoft.com/office/drawing/2014/main" id="{16F4D98A-6F0A-D4C9-6749-DC562A0C228F}"/>
              </a:ext>
            </a:extLst>
          </p:cNvPr>
          <p:cNvSpPr txBox="1"/>
          <p:nvPr/>
        </p:nvSpPr>
        <p:spPr>
          <a:xfrm>
            <a:off x="7749932" y="5349721"/>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Hiển thị trên app</a:t>
            </a:r>
            <a:endParaRPr lang="vi-VN">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D67E4FF-F842-3E1E-9A2B-ED62B39832A2}"/>
              </a:ext>
            </a:extLst>
          </p:cNvPr>
          <p:cNvPicPr>
            <a:picLocks noChangeAspect="1"/>
          </p:cNvPicPr>
          <p:nvPr/>
        </p:nvPicPr>
        <p:blipFill>
          <a:blip r:embed="rId3"/>
          <a:stretch>
            <a:fillRect/>
          </a:stretch>
        </p:blipFill>
        <p:spPr>
          <a:xfrm>
            <a:off x="8105117" y="1138947"/>
            <a:ext cx="3213559" cy="3800383"/>
          </a:xfrm>
          <a:prstGeom prst="rect">
            <a:avLst/>
          </a:prstGeom>
        </p:spPr>
      </p:pic>
      <p:pic>
        <p:nvPicPr>
          <p:cNvPr id="11" name="Picture 10">
            <a:extLst>
              <a:ext uri="{FF2B5EF4-FFF2-40B4-BE49-F238E27FC236}">
                <a16:creationId xmlns:a16="http://schemas.microsoft.com/office/drawing/2014/main" id="{50F12507-49F3-8362-137A-4A4DB5CA27A4}"/>
              </a:ext>
            </a:extLst>
          </p:cNvPr>
          <p:cNvPicPr>
            <a:picLocks noChangeAspect="1"/>
          </p:cNvPicPr>
          <p:nvPr/>
        </p:nvPicPr>
        <p:blipFill>
          <a:blip r:embed="rId4"/>
          <a:stretch>
            <a:fillRect/>
          </a:stretch>
        </p:blipFill>
        <p:spPr>
          <a:xfrm>
            <a:off x="330089" y="1185668"/>
            <a:ext cx="6585616" cy="3706943"/>
          </a:xfrm>
          <a:prstGeom prst="rect">
            <a:avLst/>
          </a:prstGeom>
        </p:spPr>
      </p:pic>
      <p:sp>
        <p:nvSpPr>
          <p:cNvPr id="12" name="TextBox 11">
            <a:extLst>
              <a:ext uri="{FF2B5EF4-FFF2-40B4-BE49-F238E27FC236}">
                <a16:creationId xmlns:a16="http://schemas.microsoft.com/office/drawing/2014/main" id="{183E08AB-4856-2B10-7DB7-4CBBBD1EA579}"/>
              </a:ext>
            </a:extLst>
          </p:cNvPr>
          <p:cNvSpPr txBox="1"/>
          <p:nvPr/>
        </p:nvSpPr>
        <p:spPr>
          <a:xfrm>
            <a:off x="989808" y="5177531"/>
            <a:ext cx="5774976" cy="646331"/>
          </a:xfrm>
          <a:prstGeom prst="rect">
            <a:avLst/>
          </a:prstGeom>
          <a:noFill/>
        </p:spPr>
        <p:txBody>
          <a:bodyPr wrap="square" rtlCol="0">
            <a:spAutoFit/>
          </a:bodyPr>
          <a:lstStyle/>
          <a:p>
            <a:pPr algn="ctr"/>
            <a:r>
              <a:rPr lang="en-US">
                <a:solidFill>
                  <a:schemeClr val="accent5">
                    <a:lumMod val="50000"/>
                  </a:schemeClr>
                </a:solidFill>
                <a:latin typeface="Times New Roman" panose="02020603050405020304" pitchFamily="18" charset="0"/>
                <a:cs typeface="Times New Roman" panose="02020603050405020304" pitchFamily="18" charset="0"/>
              </a:rPr>
              <a:t>Hướng Dẫn: https://qms.fpt.com/document-detail/35d7bc07-6133-4114-9b86-3c72ca49c1c4/view</a:t>
            </a:r>
            <a:endParaRPr lang="vi-VN">
              <a:solidFill>
                <a:schemeClr val="accent5">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272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7DEB8-EBB8-3350-4DE7-DF6011BDA53B}"/>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0B5653C9-16EE-AC4C-712F-90A0739A93A6}"/>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ADD8C01-38D3-4F40-B565-CF496E76B059}"/>
              </a:ext>
            </a:extLst>
          </p:cNvPr>
          <p:cNvSpPr txBox="1"/>
          <p:nvPr/>
        </p:nvSpPr>
        <p:spPr>
          <a:xfrm>
            <a:off x="0" y="677045"/>
            <a:ext cx="12192000" cy="400110"/>
          </a:xfrm>
          <a:prstGeom prst="rect">
            <a:avLst/>
          </a:prstGeom>
          <a:noFill/>
        </p:spPr>
        <p:txBody>
          <a:bodyPr wrap="square" rtlCol="0">
            <a:spAutoFit/>
          </a:bodyPr>
          <a:lstStyle/>
          <a:p>
            <a:r>
              <a:rPr lang="en-US" sz="2000" b="1">
                <a:solidFill>
                  <a:srgbClr val="F57226"/>
                </a:solidFill>
                <a:latin typeface="Times New Roman" panose="02020603050405020304" pitchFamily="18" charset="0"/>
                <a:cs typeface="Times New Roman" panose="02020603050405020304" pitchFamily="18" charset="0"/>
              </a:rPr>
              <a:t>Đăng nhập không gửi OTP</a:t>
            </a:r>
          </a:p>
        </p:txBody>
      </p:sp>
      <p:sp>
        <p:nvSpPr>
          <p:cNvPr id="15" name="TextBox 14">
            <a:extLst>
              <a:ext uri="{FF2B5EF4-FFF2-40B4-BE49-F238E27FC236}">
                <a16:creationId xmlns:a16="http://schemas.microsoft.com/office/drawing/2014/main" id="{71DC5B17-1FA7-FA8F-2113-C631604F033C}"/>
              </a:ext>
            </a:extLst>
          </p:cNvPr>
          <p:cNvSpPr txBox="1"/>
          <p:nvPr/>
        </p:nvSpPr>
        <p:spPr>
          <a:xfrm>
            <a:off x="97654" y="1077156"/>
            <a:ext cx="11434439" cy="923330"/>
          </a:xfrm>
          <a:prstGeom prst="rect">
            <a:avLst/>
          </a:prstGeom>
          <a:noFill/>
        </p:spPr>
        <p:txBody>
          <a:bodyPr wrap="square" rtlCol="0">
            <a:spAutoFit/>
          </a:bodyPr>
          <a:lstStyle/>
          <a:p>
            <a:r>
              <a:rPr lang="en-US">
                <a:solidFill>
                  <a:srgbClr val="FF0000"/>
                </a:solidFill>
                <a:latin typeface="Times New Roman" panose="02020603050405020304" pitchFamily="18" charset="0"/>
                <a:cs typeface="Times New Roman" panose="02020603050405020304" pitchFamily="18" charset="0"/>
              </a:rPr>
              <a:t>Cách </a:t>
            </a:r>
            <a:r>
              <a:rPr lang="en-US" err="1">
                <a:solidFill>
                  <a:srgbClr val="FF0000"/>
                </a:solidFill>
                <a:latin typeface="Times New Roman" panose="02020603050405020304" pitchFamily="18" charset="0"/>
                <a:cs typeface="Times New Roman" panose="02020603050405020304" pitchFamily="18" charset="0"/>
              </a:rPr>
              <a:t>khắc</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phục</a:t>
            </a:r>
            <a:r>
              <a:rPr lang="en-US">
                <a:solidFill>
                  <a:srgbClr val="FF0000"/>
                </a:solidFill>
                <a:latin typeface="Times New Roman" panose="02020603050405020304" pitchFamily="18" charset="0"/>
                <a:cs typeface="Times New Roman" panose="02020603050405020304" pitchFamily="18" charset="0"/>
              </a:rPr>
              <a:t>: </a:t>
            </a:r>
            <a:br>
              <a:rPr lang="en-US">
                <a:solidFill>
                  <a:schemeClr val="accent5">
                    <a:lumMod val="50000"/>
                  </a:schemeClr>
                </a:solidFill>
                <a:latin typeface="Times New Roman" panose="02020603050405020304" pitchFamily="18" charset="0"/>
                <a:cs typeface="Times New Roman" panose="02020603050405020304" pitchFamily="18" charset="0"/>
              </a:rPr>
            </a:br>
            <a:r>
              <a:rPr lang="en-US">
                <a:solidFill>
                  <a:schemeClr val="accent5">
                    <a:lumMod val="50000"/>
                  </a:schemeClr>
                </a:solidFill>
                <a:latin typeface="Times New Roman" panose="02020603050405020304" pitchFamily="18" charset="0"/>
                <a:cs typeface="Times New Roman" panose="02020603050405020304" pitchFamily="18" charset="0"/>
              </a:rPr>
              <a:t>B1: Chọn ứng dụng tin nhắn trên điện thoại- Kiểm tra mục “spam”</a:t>
            </a:r>
          </a:p>
          <a:p>
            <a:r>
              <a:rPr lang="en-US">
                <a:solidFill>
                  <a:schemeClr val="accent5">
                    <a:lumMod val="50000"/>
                  </a:schemeClr>
                </a:solidFill>
                <a:latin typeface="Times New Roman" panose="02020603050405020304" pitchFamily="18" charset="0"/>
                <a:cs typeface="Times New Roman" panose="02020603050405020304" pitchFamily="18" charset="0"/>
              </a:rPr>
              <a:t>B2: Trong trường hợp không thấy OTP chờ đếm ngược xong- sau đó sử dụng phương thức khác</a:t>
            </a:r>
          </a:p>
        </p:txBody>
      </p:sp>
      <p:sp>
        <p:nvSpPr>
          <p:cNvPr id="7" name="TextBox 6">
            <a:extLst>
              <a:ext uri="{FF2B5EF4-FFF2-40B4-BE49-F238E27FC236}">
                <a16:creationId xmlns:a16="http://schemas.microsoft.com/office/drawing/2014/main" id="{8A272C2C-3675-E08B-8B98-0CCAC8566E7B}"/>
              </a:ext>
            </a:extLst>
          </p:cNvPr>
          <p:cNvSpPr txBox="1"/>
          <p:nvPr/>
        </p:nvSpPr>
        <p:spPr>
          <a:xfrm>
            <a:off x="6431874" y="5600773"/>
            <a:ext cx="4296793" cy="369332"/>
          </a:xfrm>
          <a:prstGeom prst="rect">
            <a:avLst/>
          </a:prstGeom>
          <a:noFill/>
        </p:spPr>
        <p:txBody>
          <a:bodyPr wrap="square" rtlCol="0">
            <a:spAutoFit/>
          </a:bodyPr>
          <a:lstStyle/>
          <a:p>
            <a:pPr algn="ctr"/>
            <a:r>
              <a:rPr lang="en-US">
                <a:solidFill>
                  <a:srgbClr val="002060"/>
                </a:solidFill>
                <a:latin typeface="Times New Roman" panose="02020603050405020304" pitchFamily="18" charset="0"/>
                <a:cs typeface="Times New Roman" panose="02020603050405020304" pitchFamily="18" charset="0"/>
              </a:rPr>
              <a:t>Chọn phương thức</a:t>
            </a:r>
            <a:endParaRPr lang="vi-VN">
              <a:solidFill>
                <a:srgbClr val="00206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1BE2251-0E98-C16C-728E-78EF097CEE40}"/>
              </a:ext>
            </a:extLst>
          </p:cNvPr>
          <p:cNvSpPr txBox="1"/>
          <p:nvPr/>
        </p:nvSpPr>
        <p:spPr>
          <a:xfrm>
            <a:off x="-189207" y="5600773"/>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Không Thấy OTP</a:t>
            </a:r>
            <a:endParaRPr lang="vi-VN">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0115276-426F-74AC-9F06-A341FB6D1F5F}"/>
              </a:ext>
            </a:extLst>
          </p:cNvPr>
          <p:cNvPicPr>
            <a:picLocks noChangeAspect="1"/>
          </p:cNvPicPr>
          <p:nvPr/>
        </p:nvPicPr>
        <p:blipFill>
          <a:blip r:embed="rId3"/>
          <a:stretch>
            <a:fillRect/>
          </a:stretch>
        </p:blipFill>
        <p:spPr>
          <a:xfrm>
            <a:off x="580377" y="2057533"/>
            <a:ext cx="2757627" cy="3418895"/>
          </a:xfrm>
          <a:prstGeom prst="rect">
            <a:avLst/>
          </a:prstGeom>
        </p:spPr>
      </p:pic>
      <p:pic>
        <p:nvPicPr>
          <p:cNvPr id="13" name="Picture 12">
            <a:extLst>
              <a:ext uri="{FF2B5EF4-FFF2-40B4-BE49-F238E27FC236}">
                <a16:creationId xmlns:a16="http://schemas.microsoft.com/office/drawing/2014/main" id="{BF807184-B518-FB8C-E4AA-7CC9ECE2C9E6}"/>
              </a:ext>
            </a:extLst>
          </p:cNvPr>
          <p:cNvPicPr>
            <a:picLocks noChangeAspect="1"/>
          </p:cNvPicPr>
          <p:nvPr/>
        </p:nvPicPr>
        <p:blipFill>
          <a:blip r:embed="rId4"/>
          <a:stretch>
            <a:fillRect/>
          </a:stretch>
        </p:blipFill>
        <p:spPr>
          <a:xfrm>
            <a:off x="7103181" y="2057533"/>
            <a:ext cx="2954181" cy="3532990"/>
          </a:xfrm>
          <a:prstGeom prst="rect">
            <a:avLst/>
          </a:prstGeom>
        </p:spPr>
      </p:pic>
    </p:spTree>
    <p:extLst>
      <p:ext uri="{BB962C8B-B14F-4D97-AF65-F5344CB8AC3E}">
        <p14:creationId xmlns:p14="http://schemas.microsoft.com/office/powerpoint/2010/main" val="537900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7C10F-F4C8-F1B2-339A-CB57BE3F8760}"/>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31D724E8-E2DB-021F-D5F8-2BFFCB516E58}"/>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34AE20E-8627-B17E-F14A-B4394AB74C3D}"/>
              </a:ext>
            </a:extLst>
          </p:cNvPr>
          <p:cNvSpPr txBox="1"/>
          <p:nvPr/>
        </p:nvSpPr>
        <p:spPr>
          <a:xfrm>
            <a:off x="0" y="677045"/>
            <a:ext cx="12192000" cy="400110"/>
          </a:xfrm>
          <a:prstGeom prst="rect">
            <a:avLst/>
          </a:prstGeom>
          <a:noFill/>
        </p:spPr>
        <p:txBody>
          <a:bodyPr wrap="square" rtlCol="0">
            <a:spAutoFit/>
          </a:bodyPr>
          <a:lstStyle/>
          <a:p>
            <a:r>
              <a:rPr lang="en-US" sz="2000" b="1">
                <a:solidFill>
                  <a:srgbClr val="F57226"/>
                </a:solidFill>
                <a:latin typeface="Times New Roman" panose="02020603050405020304" pitchFamily="18" charset="0"/>
                <a:cs typeface="Times New Roman" panose="02020603050405020304" pitchFamily="18" charset="0"/>
              </a:rPr>
              <a:t>Khi gặp các vấn đề về đăng nhập theo hình </a:t>
            </a:r>
          </a:p>
        </p:txBody>
      </p:sp>
      <p:sp>
        <p:nvSpPr>
          <p:cNvPr id="15" name="TextBox 14">
            <a:extLst>
              <a:ext uri="{FF2B5EF4-FFF2-40B4-BE49-F238E27FC236}">
                <a16:creationId xmlns:a16="http://schemas.microsoft.com/office/drawing/2014/main" id="{5D802823-3004-4ED2-8609-074615197B2D}"/>
              </a:ext>
            </a:extLst>
          </p:cNvPr>
          <p:cNvSpPr txBox="1"/>
          <p:nvPr/>
        </p:nvSpPr>
        <p:spPr>
          <a:xfrm>
            <a:off x="97654" y="1077156"/>
            <a:ext cx="11434439" cy="923330"/>
          </a:xfrm>
          <a:prstGeom prst="rect">
            <a:avLst/>
          </a:prstGeom>
          <a:noFill/>
        </p:spPr>
        <p:txBody>
          <a:bodyPr wrap="square" rtlCol="0">
            <a:spAutoFit/>
          </a:bodyPr>
          <a:lstStyle/>
          <a:p>
            <a:r>
              <a:rPr lang="en-US">
                <a:solidFill>
                  <a:srgbClr val="FF0000"/>
                </a:solidFill>
                <a:latin typeface="Times New Roman" panose="02020603050405020304" pitchFamily="18" charset="0"/>
                <a:cs typeface="Times New Roman" panose="02020603050405020304" pitchFamily="18" charset="0"/>
              </a:rPr>
              <a:t>Cách </a:t>
            </a:r>
            <a:r>
              <a:rPr lang="en-US" err="1">
                <a:solidFill>
                  <a:srgbClr val="FF0000"/>
                </a:solidFill>
                <a:latin typeface="Times New Roman" panose="02020603050405020304" pitchFamily="18" charset="0"/>
                <a:cs typeface="Times New Roman" panose="02020603050405020304" pitchFamily="18" charset="0"/>
              </a:rPr>
              <a:t>khắc</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phục</a:t>
            </a:r>
            <a:r>
              <a:rPr lang="en-US">
                <a:solidFill>
                  <a:srgbClr val="FF0000"/>
                </a:solidFill>
                <a:latin typeface="Times New Roman" panose="02020603050405020304" pitchFamily="18" charset="0"/>
                <a:cs typeface="Times New Roman" panose="02020603050405020304" pitchFamily="18" charset="0"/>
              </a:rPr>
              <a:t>: </a:t>
            </a:r>
            <a:br>
              <a:rPr lang="en-US">
                <a:solidFill>
                  <a:srgbClr val="002060"/>
                </a:solidFill>
                <a:latin typeface="Times New Roman" panose="02020603050405020304" pitchFamily="18" charset="0"/>
                <a:cs typeface="Times New Roman" panose="02020603050405020304" pitchFamily="18" charset="0"/>
              </a:rPr>
            </a:br>
            <a:r>
              <a:rPr lang="en-US">
                <a:solidFill>
                  <a:srgbClr val="002060"/>
                </a:solidFill>
                <a:latin typeface="Times New Roman" panose="02020603050405020304" pitchFamily="18" charset="0"/>
                <a:cs typeface="Times New Roman" panose="02020603050405020304" pitchFamily="18" charset="0"/>
              </a:rPr>
              <a:t>B1: Mở ứng dụng CH Play- Tìm kiếm và cài đặt ứng dụng” Cốc Cốc”</a:t>
            </a:r>
            <a:br>
              <a:rPr lang="en-US">
                <a:solidFill>
                  <a:srgbClr val="002060"/>
                </a:solidFill>
                <a:latin typeface="Times New Roman" panose="02020603050405020304" pitchFamily="18" charset="0"/>
                <a:cs typeface="Times New Roman" panose="02020603050405020304" pitchFamily="18" charset="0"/>
              </a:rPr>
            </a:br>
            <a:r>
              <a:rPr lang="en-US">
                <a:solidFill>
                  <a:srgbClr val="002060"/>
                </a:solidFill>
                <a:latin typeface="Times New Roman" panose="02020603050405020304" pitchFamily="18" charset="0"/>
                <a:cs typeface="Times New Roman" panose="02020603050405020304" pitchFamily="18" charset="0"/>
              </a:rPr>
              <a:t>B2: Sau đó vào Cài đặt  trên điện thoại- Ứng dụng - Ứng dụng trình duyệt mặc định &gt; Chọn Cốc Cốc. Sau đó thử lại</a:t>
            </a:r>
          </a:p>
        </p:txBody>
      </p:sp>
      <p:pic>
        <p:nvPicPr>
          <p:cNvPr id="4" name="Picture 3">
            <a:extLst>
              <a:ext uri="{FF2B5EF4-FFF2-40B4-BE49-F238E27FC236}">
                <a16:creationId xmlns:a16="http://schemas.microsoft.com/office/drawing/2014/main" id="{55EABFE6-045A-D984-3911-B2342379D1DC}"/>
              </a:ext>
            </a:extLst>
          </p:cNvPr>
          <p:cNvPicPr>
            <a:picLocks noChangeAspect="1"/>
          </p:cNvPicPr>
          <p:nvPr/>
        </p:nvPicPr>
        <p:blipFill>
          <a:blip r:embed="rId3"/>
          <a:stretch>
            <a:fillRect/>
          </a:stretch>
        </p:blipFill>
        <p:spPr>
          <a:xfrm>
            <a:off x="8960491" y="2524911"/>
            <a:ext cx="2260884" cy="3014512"/>
          </a:xfrm>
          <a:prstGeom prst="rect">
            <a:avLst/>
          </a:prstGeom>
        </p:spPr>
      </p:pic>
      <p:pic>
        <p:nvPicPr>
          <p:cNvPr id="3" name="Picture 2">
            <a:extLst>
              <a:ext uri="{FF2B5EF4-FFF2-40B4-BE49-F238E27FC236}">
                <a16:creationId xmlns:a16="http://schemas.microsoft.com/office/drawing/2014/main" id="{9FED1285-BBCD-C3C9-744D-0BCCB409CD28}"/>
              </a:ext>
            </a:extLst>
          </p:cNvPr>
          <p:cNvPicPr>
            <a:picLocks noChangeAspect="1"/>
          </p:cNvPicPr>
          <p:nvPr/>
        </p:nvPicPr>
        <p:blipFill>
          <a:blip r:embed="rId4"/>
          <a:stretch>
            <a:fillRect/>
          </a:stretch>
        </p:blipFill>
        <p:spPr>
          <a:xfrm>
            <a:off x="219044" y="2524911"/>
            <a:ext cx="3648075" cy="2962275"/>
          </a:xfrm>
          <a:prstGeom prst="rect">
            <a:avLst/>
          </a:prstGeom>
        </p:spPr>
      </p:pic>
      <p:pic>
        <p:nvPicPr>
          <p:cNvPr id="6" name="Picture 5">
            <a:extLst>
              <a:ext uri="{FF2B5EF4-FFF2-40B4-BE49-F238E27FC236}">
                <a16:creationId xmlns:a16="http://schemas.microsoft.com/office/drawing/2014/main" id="{F530C228-90BD-E990-8208-B357993AEB96}"/>
              </a:ext>
            </a:extLst>
          </p:cNvPr>
          <p:cNvPicPr>
            <a:picLocks noChangeAspect="1"/>
          </p:cNvPicPr>
          <p:nvPr/>
        </p:nvPicPr>
        <p:blipFill>
          <a:blip r:embed="rId5"/>
          <a:stretch>
            <a:fillRect/>
          </a:stretch>
        </p:blipFill>
        <p:spPr>
          <a:xfrm>
            <a:off x="4085439" y="2524911"/>
            <a:ext cx="4307463" cy="2962275"/>
          </a:xfrm>
          <a:prstGeom prst="rect">
            <a:avLst/>
          </a:prstGeom>
        </p:spPr>
      </p:pic>
      <p:sp>
        <p:nvSpPr>
          <p:cNvPr id="7" name="TextBox 6">
            <a:extLst>
              <a:ext uri="{FF2B5EF4-FFF2-40B4-BE49-F238E27FC236}">
                <a16:creationId xmlns:a16="http://schemas.microsoft.com/office/drawing/2014/main" id="{1BDD2C83-57E2-4490-9F4E-F437FB36C02C}"/>
              </a:ext>
            </a:extLst>
          </p:cNvPr>
          <p:cNvSpPr txBox="1"/>
          <p:nvPr/>
        </p:nvSpPr>
        <p:spPr>
          <a:xfrm>
            <a:off x="4045256" y="5662800"/>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Hiển thị trên app</a:t>
            </a:r>
            <a:endParaRPr lang="vi-VN">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84F844F-1FAE-4DC2-FB63-321468B3F4E4}"/>
              </a:ext>
            </a:extLst>
          </p:cNvPr>
          <p:cNvSpPr txBox="1"/>
          <p:nvPr/>
        </p:nvSpPr>
        <p:spPr>
          <a:xfrm>
            <a:off x="7992860" y="5662800"/>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Treo khi nhập OTP</a:t>
            </a:r>
            <a:endParaRPr lang="vi-VN">
              <a:solidFill>
                <a:srgbClr val="FF00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5FC418F-7B97-8DEB-AB8D-67E9F66A440F}"/>
              </a:ext>
            </a:extLst>
          </p:cNvPr>
          <p:cNvSpPr txBox="1"/>
          <p:nvPr/>
        </p:nvSpPr>
        <p:spPr>
          <a:xfrm>
            <a:off x="-387825" y="5662800"/>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Hiển thị trên app</a:t>
            </a:r>
            <a:endParaRPr lang="vi-VN">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79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C771B-B232-AEA5-EB9B-9CF62BDBA83A}"/>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A15145E3-BD7C-5196-DC53-7AF32FB4BC0E}"/>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41506FA-2543-399C-A759-B5AE73711063}"/>
              </a:ext>
            </a:extLst>
          </p:cNvPr>
          <p:cNvSpPr txBox="1"/>
          <p:nvPr/>
        </p:nvSpPr>
        <p:spPr>
          <a:xfrm>
            <a:off x="0" y="677045"/>
            <a:ext cx="12192000" cy="400110"/>
          </a:xfrm>
          <a:prstGeom prst="rect">
            <a:avLst/>
          </a:prstGeom>
          <a:noFill/>
        </p:spPr>
        <p:txBody>
          <a:bodyPr wrap="square" rtlCol="0">
            <a:spAutoFit/>
          </a:bodyPr>
          <a:lstStyle/>
          <a:p>
            <a:r>
              <a:rPr lang="vi-VN" sz="2000" b="1">
                <a:solidFill>
                  <a:srgbClr val="F57226"/>
                </a:solidFill>
                <a:latin typeface="Times New Roman" panose="02020603050405020304" pitchFamily="18" charset="0"/>
                <a:cs typeface="Times New Roman" panose="02020603050405020304" pitchFamily="18" charset="0"/>
              </a:rPr>
              <a:t>Đăng nhập tài khoản </a:t>
            </a:r>
            <a:r>
              <a:rPr lang="en-US" sz="2000" b="1">
                <a:solidFill>
                  <a:srgbClr val="F57226"/>
                </a:solidFill>
                <a:latin typeface="Times New Roman" panose="02020603050405020304" pitchFamily="18" charset="0"/>
                <a:cs typeface="Times New Roman" panose="02020603050405020304" pitchFamily="18" charset="0"/>
              </a:rPr>
              <a:t>hiển thị thông báo “JavaScript đã bị tắt”</a:t>
            </a:r>
          </a:p>
        </p:txBody>
      </p:sp>
      <p:sp>
        <p:nvSpPr>
          <p:cNvPr id="15" name="TextBox 14">
            <a:extLst>
              <a:ext uri="{FF2B5EF4-FFF2-40B4-BE49-F238E27FC236}">
                <a16:creationId xmlns:a16="http://schemas.microsoft.com/office/drawing/2014/main" id="{B6DD14F2-49A2-42B7-3AD3-61371BD84017}"/>
              </a:ext>
            </a:extLst>
          </p:cNvPr>
          <p:cNvSpPr txBox="1"/>
          <p:nvPr/>
        </p:nvSpPr>
        <p:spPr>
          <a:xfrm>
            <a:off x="68874" y="2202987"/>
            <a:ext cx="6196614" cy="2031325"/>
          </a:xfrm>
          <a:prstGeom prst="rect">
            <a:avLst/>
          </a:prstGeom>
          <a:noFill/>
        </p:spPr>
        <p:txBody>
          <a:bodyPr wrap="square" rtlCol="0">
            <a:spAutoFit/>
          </a:bodyPr>
          <a:lstStyle/>
          <a:p>
            <a:r>
              <a:rPr lang="en-US" err="1">
                <a:solidFill>
                  <a:srgbClr val="FF0000"/>
                </a:solidFill>
                <a:latin typeface="Times New Roman" panose="02020603050405020304" pitchFamily="18" charset="0"/>
                <a:cs typeface="Times New Roman" panose="02020603050405020304" pitchFamily="18" charset="0"/>
              </a:rPr>
              <a:t>Vấn</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đề</a:t>
            </a:r>
            <a:r>
              <a:rPr lang="en-US">
                <a:solidFill>
                  <a:srgbClr val="FF0000"/>
                </a:solidFill>
                <a:latin typeface="Times New Roman" panose="02020603050405020304" pitchFamily="18" charset="0"/>
                <a:cs typeface="Times New Roman" panose="02020603050405020304" pitchFamily="18" charset="0"/>
              </a:rPr>
              <a:t>: </a:t>
            </a:r>
            <a:r>
              <a:rPr lang="en-US">
                <a:solidFill>
                  <a:srgbClr val="002060"/>
                </a:solidFill>
                <a:latin typeface="Times New Roman" panose="02020603050405020304" pitchFamily="18" charset="0"/>
                <a:cs typeface="Times New Roman" panose="02020603050405020304" pitchFamily="18" charset="0"/>
              </a:rPr>
              <a:t>Cài đặt trình duyệt web mặc định trên phone đang tắt chức năng JavaScript.</a:t>
            </a:r>
            <a:br>
              <a:rPr lang="en-US">
                <a:solidFill>
                  <a:srgbClr val="002060"/>
                </a:solidFill>
                <a:latin typeface="Times New Roman" panose="02020603050405020304" pitchFamily="18" charset="0"/>
                <a:cs typeface="Times New Roman" panose="02020603050405020304" pitchFamily="18" charset="0"/>
              </a:rPr>
            </a:br>
            <a:r>
              <a:rPr lang="en-US" err="1">
                <a:solidFill>
                  <a:srgbClr val="FF0000"/>
                </a:solidFill>
                <a:latin typeface="Times New Roman" panose="02020603050405020304" pitchFamily="18" charset="0"/>
                <a:cs typeface="Times New Roman" panose="02020603050405020304" pitchFamily="18" charset="0"/>
              </a:rPr>
              <a:t>Cách</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khắc</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phục</a:t>
            </a:r>
            <a:r>
              <a:rPr lang="en-US">
                <a:solidFill>
                  <a:srgbClr val="FF0000"/>
                </a:solidFill>
                <a:latin typeface="Times New Roman" panose="02020603050405020304" pitchFamily="18" charset="0"/>
                <a:cs typeface="Times New Roman" panose="02020603050405020304" pitchFamily="18" charset="0"/>
              </a:rPr>
              <a:t>:</a:t>
            </a:r>
            <a:br>
              <a:rPr lang="en-US">
                <a:solidFill>
                  <a:srgbClr val="002060"/>
                </a:solidFill>
                <a:latin typeface="Times New Roman" panose="02020603050405020304" pitchFamily="18" charset="0"/>
                <a:cs typeface="Times New Roman" panose="02020603050405020304" pitchFamily="18" charset="0"/>
              </a:rPr>
            </a:br>
            <a:r>
              <a:rPr lang="en-US" b="1">
                <a:solidFill>
                  <a:srgbClr val="002060"/>
                </a:solidFill>
                <a:latin typeface="Times New Roman" panose="02020603050405020304" pitchFamily="18" charset="0"/>
                <a:cs typeface="Times New Roman" panose="02020603050405020304" pitchFamily="18" charset="0"/>
              </a:rPr>
              <a:t>- IOS</a:t>
            </a:r>
            <a:r>
              <a:rPr lang="en-US">
                <a:solidFill>
                  <a:srgbClr val="002060"/>
                </a:solidFill>
                <a:latin typeface="Times New Roman" panose="02020603050405020304" pitchFamily="18" charset="0"/>
                <a:cs typeface="Times New Roman" panose="02020603050405020304" pitchFamily="18" charset="0"/>
              </a:rPr>
              <a:t>: Vào cài đặt &gt; Safari &gt; Nâng cao &gt; Bật lại JavaScript. Sau đó thử lại.</a:t>
            </a:r>
            <a:br>
              <a:rPr lang="en-US">
                <a:solidFill>
                  <a:srgbClr val="002060"/>
                </a:solidFill>
                <a:latin typeface="Times New Roman" panose="02020603050405020304" pitchFamily="18" charset="0"/>
                <a:cs typeface="Times New Roman" panose="02020603050405020304" pitchFamily="18" charset="0"/>
              </a:rPr>
            </a:br>
            <a:r>
              <a:rPr lang="en-US" b="1">
                <a:solidFill>
                  <a:srgbClr val="002060"/>
                </a:solidFill>
                <a:latin typeface="Times New Roman" panose="02020603050405020304" pitchFamily="18" charset="0"/>
                <a:cs typeface="Times New Roman" panose="02020603050405020304" pitchFamily="18" charset="0"/>
              </a:rPr>
              <a:t>- Android:  </a:t>
            </a:r>
            <a:r>
              <a:rPr lang="en-US">
                <a:solidFill>
                  <a:srgbClr val="002060"/>
                </a:solidFill>
                <a:latin typeface="Times New Roman" panose="02020603050405020304" pitchFamily="18" charset="0"/>
                <a:cs typeface="Times New Roman" panose="02020603050405020304" pitchFamily="18" charset="0"/>
              </a:rPr>
              <a:t>Cài đặt &gt; Ứng dụng &gt; Chrome (hoặc trình duyệt web nào đang để mặc định) &gt; Xóa dữ liệu. Sau đó thử lại.</a:t>
            </a:r>
          </a:p>
        </p:txBody>
      </p:sp>
      <p:pic>
        <p:nvPicPr>
          <p:cNvPr id="3" name="Picture 2">
            <a:extLst>
              <a:ext uri="{FF2B5EF4-FFF2-40B4-BE49-F238E27FC236}">
                <a16:creationId xmlns:a16="http://schemas.microsoft.com/office/drawing/2014/main" id="{430C7007-98A3-2CA6-E675-36832E091FF5}"/>
              </a:ext>
            </a:extLst>
          </p:cNvPr>
          <p:cNvPicPr>
            <a:picLocks noChangeAspect="1"/>
          </p:cNvPicPr>
          <p:nvPr/>
        </p:nvPicPr>
        <p:blipFill>
          <a:blip r:embed="rId3"/>
          <a:stretch>
            <a:fillRect/>
          </a:stretch>
        </p:blipFill>
        <p:spPr>
          <a:xfrm>
            <a:off x="7025612" y="1147762"/>
            <a:ext cx="4124325" cy="4562475"/>
          </a:xfrm>
          <a:prstGeom prst="rect">
            <a:avLst/>
          </a:prstGeom>
        </p:spPr>
      </p:pic>
      <p:sp>
        <p:nvSpPr>
          <p:cNvPr id="5" name="TextBox 4">
            <a:extLst>
              <a:ext uri="{FF2B5EF4-FFF2-40B4-BE49-F238E27FC236}">
                <a16:creationId xmlns:a16="http://schemas.microsoft.com/office/drawing/2014/main" id="{D581D238-05AD-9C20-721B-3C64DA54F1CF}"/>
              </a:ext>
            </a:extLst>
          </p:cNvPr>
          <p:cNvSpPr txBox="1"/>
          <p:nvPr/>
        </p:nvSpPr>
        <p:spPr>
          <a:xfrm>
            <a:off x="7205707" y="5902497"/>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Hiển thị trên app</a:t>
            </a:r>
            <a:endParaRPr lang="vi-VN">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3365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7FA6-007D-8637-A74F-BFF8E96BB9A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1DFD0D1-69FB-7D12-3987-5EF0E07428EB}"/>
              </a:ext>
            </a:extLst>
          </p:cNvPr>
          <p:cNvSpPr>
            <a:spLocks noGrp="1"/>
          </p:cNvSpPr>
          <p:nvPr>
            <p:ph type="ctrTitle"/>
          </p:nvPr>
        </p:nvSpPr>
        <p:spPr>
          <a:xfrm>
            <a:off x="0" y="3519447"/>
            <a:ext cx="7208667" cy="508624"/>
          </a:xfrm>
        </p:spPr>
        <p:txBody>
          <a:bodyPr anchor="b">
            <a:normAutofit fontScale="90000"/>
          </a:bodyPr>
          <a:lstStyle/>
          <a:p>
            <a:pPr algn="l"/>
            <a:r>
              <a:rPr lang="en-US" sz="3600">
                <a:solidFill>
                  <a:schemeClr val="bg1"/>
                </a:solidFill>
              </a:rPr>
              <a:t>CÁC VẤN ĐỀ THƯỜNG GẶP VÀ</a:t>
            </a:r>
            <a:br>
              <a:rPr lang="en-US" sz="3600">
                <a:solidFill>
                  <a:schemeClr val="bg1"/>
                </a:solidFill>
              </a:rPr>
            </a:br>
            <a:r>
              <a:rPr lang="en-US" sz="3600">
                <a:solidFill>
                  <a:schemeClr val="bg1"/>
                </a:solidFill>
              </a:rPr>
              <a:t>CÁCH XỬ LÝ</a:t>
            </a:r>
          </a:p>
        </p:txBody>
      </p:sp>
      <p:sp>
        <p:nvSpPr>
          <p:cNvPr id="5" name="Subtitle 2">
            <a:extLst>
              <a:ext uri="{FF2B5EF4-FFF2-40B4-BE49-F238E27FC236}">
                <a16:creationId xmlns:a16="http://schemas.microsoft.com/office/drawing/2014/main" id="{E0394476-D1F1-5732-BFDA-4D7EFCAA6694}"/>
              </a:ext>
            </a:extLst>
          </p:cNvPr>
          <p:cNvSpPr>
            <a:spLocks noGrp="1"/>
          </p:cNvSpPr>
          <p:nvPr>
            <p:ph type="subTitle" idx="1"/>
          </p:nvPr>
        </p:nvSpPr>
        <p:spPr>
          <a:xfrm>
            <a:off x="0" y="2173707"/>
            <a:ext cx="7972693" cy="1164846"/>
          </a:xfrm>
        </p:spPr>
        <p:txBody>
          <a:bodyPr vert="horz" lIns="91440" tIns="45720" rIns="91440" bIns="45720" rtlCol="0" anchor="t">
            <a:noAutofit/>
          </a:bodyPr>
          <a:lstStyle/>
          <a:p>
            <a:pPr algn="l"/>
            <a:r>
              <a:rPr lang="en-US" sz="4000" b="1">
                <a:solidFill>
                  <a:schemeClr val="bg1"/>
                </a:solidFill>
                <a:latin typeface="Times New Roman"/>
                <a:cs typeface="Times New Roman"/>
              </a:rPr>
              <a:t>FPT LIFE</a:t>
            </a:r>
            <a:endParaRPr lang="en-US" b="1">
              <a:solidFill>
                <a:schemeClr val="bg1"/>
              </a:solidFill>
            </a:endParaRPr>
          </a:p>
        </p:txBody>
      </p:sp>
      <p:pic>
        <p:nvPicPr>
          <p:cNvPr id="8" name="Picture 6" descr="FPT Telecom – FPT Telecom">
            <a:extLst>
              <a:ext uri="{FF2B5EF4-FFF2-40B4-BE49-F238E27FC236}">
                <a16:creationId xmlns:a16="http://schemas.microsoft.com/office/drawing/2014/main" id="{4BBDE1D5-D65C-67E4-F65A-A25D1BB0EE96}"/>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1A8432A-B2C9-D1CC-B074-B9B61BA72193}"/>
              </a:ext>
            </a:extLst>
          </p:cNvPr>
          <p:cNvSpPr txBox="1"/>
          <p:nvPr/>
        </p:nvSpPr>
        <p:spPr>
          <a:xfrm>
            <a:off x="0" y="677045"/>
            <a:ext cx="12192000" cy="400110"/>
          </a:xfrm>
          <a:prstGeom prst="rect">
            <a:avLst/>
          </a:prstGeom>
          <a:noFill/>
        </p:spPr>
        <p:txBody>
          <a:bodyPr wrap="square" rtlCol="0">
            <a:spAutoFit/>
          </a:bodyPr>
          <a:lstStyle/>
          <a:p>
            <a:r>
              <a:rPr lang="en-US" sz="2000" b="1">
                <a:solidFill>
                  <a:srgbClr val="F57226"/>
                </a:solidFill>
                <a:latin typeface="Times New Roman" panose="02020603050405020304" pitchFamily="18" charset="0"/>
                <a:cs typeface="Times New Roman" panose="02020603050405020304" pitchFamily="18" charset="0"/>
              </a:rPr>
              <a:t>Tài </a:t>
            </a:r>
            <a:r>
              <a:rPr lang="en-US" sz="2000" b="1" err="1">
                <a:solidFill>
                  <a:srgbClr val="F57226"/>
                </a:solidFill>
                <a:latin typeface="Times New Roman" panose="02020603050405020304" pitchFamily="18" charset="0"/>
                <a:cs typeface="Times New Roman" panose="02020603050405020304" pitchFamily="18" charset="0"/>
              </a:rPr>
              <a:t>khoản</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được</a:t>
            </a:r>
            <a:r>
              <a:rPr lang="en-US" sz="2000" b="1">
                <a:solidFill>
                  <a:srgbClr val="F57226"/>
                </a:solidFill>
                <a:latin typeface="Times New Roman" panose="02020603050405020304" pitchFamily="18" charset="0"/>
                <a:cs typeface="Times New Roman" panose="02020603050405020304" pitchFamily="18" charset="0"/>
              </a:rPr>
              <a:t> chia </a:t>
            </a:r>
            <a:r>
              <a:rPr lang="en-US" sz="2000" b="1" err="1">
                <a:solidFill>
                  <a:srgbClr val="F57226"/>
                </a:solidFill>
                <a:latin typeface="Times New Roman" panose="02020603050405020304" pitchFamily="18" charset="0"/>
                <a:cs typeface="Times New Roman" panose="02020603050405020304" pitchFamily="18" charset="0"/>
              </a:rPr>
              <a:t>sẻ</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không</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thấy</a:t>
            </a:r>
            <a:r>
              <a:rPr lang="en-US" sz="2000" b="1">
                <a:solidFill>
                  <a:srgbClr val="F57226"/>
                </a:solidFill>
                <a:latin typeface="Times New Roman" panose="02020603050405020304" pitchFamily="18" charset="0"/>
                <a:cs typeface="Times New Roman" panose="02020603050405020304" pitchFamily="18" charset="0"/>
              </a:rPr>
              <a:t> camera</a:t>
            </a:r>
          </a:p>
        </p:txBody>
      </p:sp>
      <p:sp>
        <p:nvSpPr>
          <p:cNvPr id="2" name="Rectangle 6">
            <a:extLst>
              <a:ext uri="{FF2B5EF4-FFF2-40B4-BE49-F238E27FC236}">
                <a16:creationId xmlns:a16="http://schemas.microsoft.com/office/drawing/2014/main" id="{AB193CE8-39F0-B938-5E5E-D8F6C9202732}"/>
              </a:ext>
            </a:extLst>
          </p:cNvPr>
          <p:cNvSpPr/>
          <p:nvPr/>
        </p:nvSpPr>
        <p:spPr>
          <a:xfrm>
            <a:off x="2611538" y="6174082"/>
            <a:ext cx="2333625" cy="492443"/>
          </a:xfrm>
          <a:prstGeom prst="rect">
            <a:avLst/>
          </a:prstGeom>
        </p:spPr>
        <p:txBody>
          <a:bodyPr wrap="square" lIns="91440" tIns="45720" rIns="91440" bIns="45720" anchor="t">
            <a:spAutoFit/>
          </a:bodyPr>
          <a:lstStyle/>
          <a:p>
            <a:pPr algn="ctr"/>
            <a:r>
              <a:rPr lang="en-US" sz="1300" b="1">
                <a:latin typeface="SVN-Gilroy" pitchFamily="2" charset="77"/>
              </a:rPr>
              <a:t>B1: </a:t>
            </a:r>
            <a:r>
              <a:rPr lang="en-US" sz="1300" err="1">
                <a:latin typeface="SVN-Gilroy" pitchFamily="2" charset="77"/>
              </a:rPr>
              <a:t>Mở</a:t>
            </a:r>
            <a:r>
              <a:rPr lang="en-US" sz="1300">
                <a:latin typeface="SVN-Gilroy" pitchFamily="2" charset="77"/>
              </a:rPr>
              <a:t> </a:t>
            </a:r>
            <a:r>
              <a:rPr lang="en-US" sz="1300" err="1">
                <a:latin typeface="SVN-Gilroy" pitchFamily="2" charset="77"/>
              </a:rPr>
              <a:t>trang</a:t>
            </a:r>
            <a:r>
              <a:rPr lang="en-US" sz="1300">
                <a:latin typeface="SVN-Gilroy" pitchFamily="2" charset="77"/>
              </a:rPr>
              <a:t> Thông </a:t>
            </a:r>
            <a:r>
              <a:rPr lang="en-US" sz="1300" err="1">
                <a:latin typeface="SVN-Gilroy" pitchFamily="2" charset="77"/>
              </a:rPr>
              <a:t>báo</a:t>
            </a:r>
            <a:r>
              <a:rPr lang="en-US" sz="1300">
                <a:latin typeface="SVN-Gilroy" pitchFamily="2" charset="77"/>
              </a:rPr>
              <a:t> -&gt; </a:t>
            </a:r>
            <a:r>
              <a:rPr lang="en-US" sz="1300" err="1">
                <a:solidFill>
                  <a:srgbClr val="F47229"/>
                </a:solidFill>
                <a:latin typeface="SVN-Gilroy" pitchFamily="2" charset="77"/>
              </a:rPr>
              <a:t>chọn</a:t>
            </a:r>
            <a:r>
              <a:rPr lang="en-US" sz="1300">
                <a:solidFill>
                  <a:srgbClr val="F47229"/>
                </a:solidFill>
                <a:latin typeface="SVN-Gilroy" pitchFamily="2" charset="77"/>
              </a:rPr>
              <a:t> </a:t>
            </a:r>
            <a:r>
              <a:rPr lang="en-US" sz="1300" err="1">
                <a:solidFill>
                  <a:srgbClr val="F47229"/>
                </a:solidFill>
                <a:latin typeface="SVN-Gilroy" pitchFamily="2" charset="77"/>
              </a:rPr>
              <a:t>Hộp</a:t>
            </a:r>
            <a:r>
              <a:rPr lang="en-US" sz="1300">
                <a:solidFill>
                  <a:srgbClr val="F47229"/>
                </a:solidFill>
                <a:latin typeface="SVN-Gilroy" pitchFamily="2" charset="77"/>
              </a:rPr>
              <a:t> </a:t>
            </a:r>
            <a:r>
              <a:rPr lang="en-US" sz="1300" err="1">
                <a:solidFill>
                  <a:srgbClr val="F47229"/>
                </a:solidFill>
                <a:latin typeface="SVN-Gilroy" pitchFamily="2" charset="77"/>
              </a:rPr>
              <a:t>thư</a:t>
            </a:r>
            <a:endParaRPr lang="en-US" sz="1300">
              <a:solidFill>
                <a:srgbClr val="F47229"/>
              </a:solidFill>
              <a:latin typeface="SVN-Gilroy" pitchFamily="2" charset="77"/>
            </a:endParaRPr>
          </a:p>
        </p:txBody>
      </p:sp>
      <p:sp>
        <p:nvSpPr>
          <p:cNvPr id="3" name="Rectangle 6">
            <a:extLst>
              <a:ext uri="{FF2B5EF4-FFF2-40B4-BE49-F238E27FC236}">
                <a16:creationId xmlns:a16="http://schemas.microsoft.com/office/drawing/2014/main" id="{20255771-2E35-6B26-BADA-3EE6C9D3130C}"/>
              </a:ext>
            </a:extLst>
          </p:cNvPr>
          <p:cNvSpPr/>
          <p:nvPr/>
        </p:nvSpPr>
        <p:spPr>
          <a:xfrm>
            <a:off x="5869560" y="6174082"/>
            <a:ext cx="2487502" cy="492443"/>
          </a:xfrm>
          <a:prstGeom prst="rect">
            <a:avLst/>
          </a:prstGeom>
        </p:spPr>
        <p:txBody>
          <a:bodyPr wrap="square" lIns="91440" tIns="45720" rIns="91440" bIns="45720" anchor="t">
            <a:spAutoFit/>
          </a:bodyPr>
          <a:lstStyle/>
          <a:p>
            <a:pPr algn="ctr"/>
            <a:r>
              <a:rPr lang="en-US" sz="1300" b="1">
                <a:latin typeface="SVN-Gilroy" pitchFamily="2" charset="77"/>
              </a:rPr>
              <a:t>B2:</a:t>
            </a:r>
            <a:r>
              <a:rPr lang="en-US" sz="1300" b="1">
                <a:solidFill>
                  <a:srgbClr val="F47229"/>
                </a:solidFill>
                <a:latin typeface="SVN-Gilroy" pitchFamily="2" charset="77"/>
              </a:rPr>
              <a:t> </a:t>
            </a:r>
            <a:r>
              <a:rPr lang="en-US" sz="1300" err="1">
                <a:solidFill>
                  <a:srgbClr val="F47229"/>
                </a:solidFill>
                <a:latin typeface="SVN-Gilroy" pitchFamily="2" charset="77"/>
              </a:rPr>
              <a:t>Chọn</a:t>
            </a:r>
            <a:r>
              <a:rPr lang="en-US" sz="1300">
                <a:solidFill>
                  <a:srgbClr val="F47229"/>
                </a:solidFill>
                <a:latin typeface="SVN-Gilroy" pitchFamily="2" charset="77"/>
              </a:rPr>
              <a:t> </a:t>
            </a:r>
            <a:r>
              <a:rPr lang="en-US" sz="1300" err="1">
                <a:solidFill>
                  <a:srgbClr val="F47229"/>
                </a:solidFill>
                <a:latin typeface="SVN-Gilroy" pitchFamily="2" charset="77"/>
              </a:rPr>
              <a:t>Chấp</a:t>
            </a:r>
            <a:r>
              <a:rPr lang="en-US" sz="1300">
                <a:solidFill>
                  <a:srgbClr val="F47229"/>
                </a:solidFill>
                <a:latin typeface="SVN-Gilroy" pitchFamily="2" charset="77"/>
              </a:rPr>
              <a:t> </a:t>
            </a:r>
            <a:r>
              <a:rPr lang="en-US" sz="1300" err="1">
                <a:solidFill>
                  <a:srgbClr val="F47229"/>
                </a:solidFill>
                <a:latin typeface="SVN-Gilroy" pitchFamily="2" charset="77"/>
              </a:rPr>
              <a:t>nhận</a:t>
            </a:r>
            <a:r>
              <a:rPr lang="en-US" sz="1300">
                <a:solidFill>
                  <a:srgbClr val="F47229"/>
                </a:solidFill>
                <a:latin typeface="SVN-Gilroy" pitchFamily="2" charset="77"/>
              </a:rPr>
              <a:t> </a:t>
            </a:r>
            <a:r>
              <a:rPr lang="en-US" sz="1300" err="1">
                <a:latin typeface="SVN-Gilroy" pitchFamily="2" charset="77"/>
              </a:rPr>
              <a:t>để</a:t>
            </a:r>
            <a:r>
              <a:rPr lang="en-US" sz="1300">
                <a:latin typeface="SVN-Gilroy" pitchFamily="2" charset="77"/>
              </a:rPr>
              <a:t> </a:t>
            </a:r>
            <a:r>
              <a:rPr lang="en-US" sz="1300" err="1">
                <a:latin typeface="SVN-Gilroy" pitchFamily="2" charset="77"/>
              </a:rPr>
              <a:t>có</a:t>
            </a:r>
            <a:r>
              <a:rPr lang="en-US" sz="1300">
                <a:latin typeface="SVN-Gilroy" pitchFamily="2" charset="77"/>
              </a:rPr>
              <a:t> </a:t>
            </a:r>
            <a:r>
              <a:rPr lang="en-US" sz="1300" err="1">
                <a:latin typeface="SVN-Gilroy" pitchFamily="2" charset="77"/>
              </a:rPr>
              <a:t>quyền</a:t>
            </a:r>
            <a:r>
              <a:rPr lang="en-US" sz="1300">
                <a:latin typeface="SVN-Gilroy" pitchFamily="2" charset="77"/>
              </a:rPr>
              <a:t> view camera</a:t>
            </a:r>
          </a:p>
        </p:txBody>
      </p:sp>
      <p:pic>
        <p:nvPicPr>
          <p:cNvPr id="6" name="Picture 2">
            <a:extLst>
              <a:ext uri="{FF2B5EF4-FFF2-40B4-BE49-F238E27FC236}">
                <a16:creationId xmlns:a16="http://schemas.microsoft.com/office/drawing/2014/main" id="{EF8C209F-E129-EDE6-A02C-4F06357F5B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611538" y="1284765"/>
            <a:ext cx="2218617" cy="4804045"/>
          </a:xfrm>
          <a:prstGeom prst="roundRect">
            <a:avLst>
              <a:gd name="adj" fmla="val 9798"/>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12D0A7F9-1BE4-0D18-51DC-BEE86357CC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5947635" y="1284765"/>
            <a:ext cx="2197726" cy="4758810"/>
          </a:xfrm>
          <a:prstGeom prst="roundRect">
            <a:avLst>
              <a:gd name="adj" fmla="val 9733"/>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9D544E9E-8697-935F-2D60-B55EC4ABECE1}"/>
              </a:ext>
            </a:extLst>
          </p:cNvPr>
          <p:cNvSpPr/>
          <p:nvPr/>
        </p:nvSpPr>
        <p:spPr>
          <a:xfrm>
            <a:off x="3662971" y="1899248"/>
            <a:ext cx="1099067" cy="2358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B85892B-D450-427B-E5E7-757F76AFA733}"/>
              </a:ext>
            </a:extLst>
          </p:cNvPr>
          <p:cNvSpPr/>
          <p:nvPr/>
        </p:nvSpPr>
        <p:spPr>
          <a:xfrm>
            <a:off x="7046497" y="5468028"/>
            <a:ext cx="997907" cy="48136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oogle Shape;413;p37">
            <a:extLst>
              <a:ext uri="{FF2B5EF4-FFF2-40B4-BE49-F238E27FC236}">
                <a16:creationId xmlns:a16="http://schemas.microsoft.com/office/drawing/2014/main" id="{5BD7E120-E37D-6184-389A-442E0EBC0F8A}"/>
              </a:ext>
            </a:extLst>
          </p:cNvPr>
          <p:cNvPicPr preferRelativeResize="0"/>
          <p:nvPr/>
        </p:nvPicPr>
        <p:blipFill rotWithShape="1">
          <a:blip r:embed="rId5">
            <a:alphaModFix/>
          </a:blip>
          <a:srcRect l="28707" t="5582" r="28486" b="5702"/>
          <a:stretch/>
        </p:blipFill>
        <p:spPr>
          <a:xfrm>
            <a:off x="5813472" y="1169789"/>
            <a:ext cx="2424596" cy="5070144"/>
          </a:xfrm>
          <a:prstGeom prst="rect">
            <a:avLst/>
          </a:prstGeom>
          <a:noFill/>
          <a:ln>
            <a:noFill/>
          </a:ln>
        </p:spPr>
      </p:pic>
      <p:pic>
        <p:nvPicPr>
          <p:cNvPr id="19" name="Google Shape;413;p37">
            <a:extLst>
              <a:ext uri="{FF2B5EF4-FFF2-40B4-BE49-F238E27FC236}">
                <a16:creationId xmlns:a16="http://schemas.microsoft.com/office/drawing/2014/main" id="{F1BED454-109D-9099-A3F5-3ABE2520B4CF}"/>
              </a:ext>
            </a:extLst>
          </p:cNvPr>
          <p:cNvPicPr preferRelativeResize="0"/>
          <p:nvPr/>
        </p:nvPicPr>
        <p:blipFill rotWithShape="1">
          <a:blip r:embed="rId5">
            <a:alphaModFix/>
          </a:blip>
          <a:srcRect l="28707" t="5582" r="28486" b="5702"/>
          <a:stretch/>
        </p:blipFill>
        <p:spPr>
          <a:xfrm>
            <a:off x="2469655" y="1169789"/>
            <a:ext cx="2487501" cy="5070144"/>
          </a:xfrm>
          <a:prstGeom prst="rect">
            <a:avLst/>
          </a:prstGeom>
          <a:noFill/>
          <a:ln>
            <a:noFill/>
          </a:ln>
        </p:spPr>
      </p:pic>
    </p:spTree>
    <p:extLst>
      <p:ext uri="{BB962C8B-B14F-4D97-AF65-F5344CB8AC3E}">
        <p14:creationId xmlns:p14="http://schemas.microsoft.com/office/powerpoint/2010/main" val="194619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7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F8A06-9A28-AB49-E48D-FB333BF7772E}"/>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9E7DCE73-CA04-2D80-2870-2800C65D2541}"/>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5361A4D-AD98-9CD5-0BEF-17917F9EFC25}"/>
              </a:ext>
            </a:extLst>
          </p:cNvPr>
          <p:cNvSpPr txBox="1"/>
          <p:nvPr/>
        </p:nvSpPr>
        <p:spPr>
          <a:xfrm>
            <a:off x="0" y="677045"/>
            <a:ext cx="5857639" cy="707886"/>
          </a:xfrm>
          <a:prstGeom prst="rect">
            <a:avLst/>
          </a:prstGeom>
          <a:noFill/>
        </p:spPr>
        <p:txBody>
          <a:bodyPr wrap="square" rtlCol="0">
            <a:spAutoFit/>
          </a:bodyPr>
          <a:lstStyle/>
          <a:p>
            <a:r>
              <a:rPr lang="en-US" sz="2000" b="1">
                <a:solidFill>
                  <a:srgbClr val="F57226"/>
                </a:solidFill>
                <a:latin typeface="Times New Roman" panose="02020603050405020304" pitchFamily="18" charset="0"/>
                <a:cs typeface="Times New Roman" panose="02020603050405020304" pitchFamily="18" charset="0"/>
              </a:rPr>
              <a:t>Kiểm tra firmwave và cập nhật firmwave lên mới nhất </a:t>
            </a:r>
          </a:p>
        </p:txBody>
      </p:sp>
      <p:pic>
        <p:nvPicPr>
          <p:cNvPr id="4" name="Picture 3">
            <a:extLst>
              <a:ext uri="{FF2B5EF4-FFF2-40B4-BE49-F238E27FC236}">
                <a16:creationId xmlns:a16="http://schemas.microsoft.com/office/drawing/2014/main" id="{3577202D-CC2C-8DE5-9F7C-E8318D48A86C}"/>
              </a:ext>
            </a:extLst>
          </p:cNvPr>
          <p:cNvPicPr>
            <a:picLocks noChangeAspect="1"/>
          </p:cNvPicPr>
          <p:nvPr/>
        </p:nvPicPr>
        <p:blipFill>
          <a:blip r:embed="rId3"/>
          <a:stretch>
            <a:fillRect/>
          </a:stretch>
        </p:blipFill>
        <p:spPr>
          <a:xfrm>
            <a:off x="6200284" y="608120"/>
            <a:ext cx="2605492" cy="5641759"/>
          </a:xfrm>
          <a:prstGeom prst="rect">
            <a:avLst/>
          </a:prstGeom>
        </p:spPr>
      </p:pic>
      <p:pic>
        <p:nvPicPr>
          <p:cNvPr id="6" name="Picture 5">
            <a:extLst>
              <a:ext uri="{FF2B5EF4-FFF2-40B4-BE49-F238E27FC236}">
                <a16:creationId xmlns:a16="http://schemas.microsoft.com/office/drawing/2014/main" id="{E764260A-20F4-8711-05B7-026D75A8960B}"/>
              </a:ext>
            </a:extLst>
          </p:cNvPr>
          <p:cNvPicPr>
            <a:picLocks noChangeAspect="1"/>
          </p:cNvPicPr>
          <p:nvPr/>
        </p:nvPicPr>
        <p:blipFill>
          <a:blip r:embed="rId4"/>
          <a:stretch>
            <a:fillRect/>
          </a:stretch>
        </p:blipFill>
        <p:spPr>
          <a:xfrm>
            <a:off x="9367464" y="608120"/>
            <a:ext cx="2605492" cy="5641759"/>
          </a:xfrm>
          <a:prstGeom prst="rect">
            <a:avLst/>
          </a:prstGeom>
        </p:spPr>
      </p:pic>
      <p:sp>
        <p:nvSpPr>
          <p:cNvPr id="7" name="Rectangle: Rounded Corners 6">
            <a:extLst>
              <a:ext uri="{FF2B5EF4-FFF2-40B4-BE49-F238E27FC236}">
                <a16:creationId xmlns:a16="http://schemas.microsoft.com/office/drawing/2014/main" id="{E203B6FC-737D-9369-C8E2-571E8F15B6CF}"/>
              </a:ext>
            </a:extLst>
          </p:cNvPr>
          <p:cNvSpPr/>
          <p:nvPr/>
        </p:nvSpPr>
        <p:spPr>
          <a:xfrm>
            <a:off x="6231893" y="4412780"/>
            <a:ext cx="2450468" cy="345651"/>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Rectangle: Rounded Corners 8">
            <a:extLst>
              <a:ext uri="{FF2B5EF4-FFF2-40B4-BE49-F238E27FC236}">
                <a16:creationId xmlns:a16="http://schemas.microsoft.com/office/drawing/2014/main" id="{4B927DCC-95FD-33D7-BFDD-F71152390DE9}"/>
              </a:ext>
            </a:extLst>
          </p:cNvPr>
          <p:cNvSpPr/>
          <p:nvPr/>
        </p:nvSpPr>
        <p:spPr>
          <a:xfrm>
            <a:off x="9148421" y="5408739"/>
            <a:ext cx="2916528" cy="585953"/>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TextBox 11">
            <a:extLst>
              <a:ext uri="{FF2B5EF4-FFF2-40B4-BE49-F238E27FC236}">
                <a16:creationId xmlns:a16="http://schemas.microsoft.com/office/drawing/2014/main" id="{3C5C3CEA-8A0B-49AD-0C68-FCA460F959F8}"/>
              </a:ext>
            </a:extLst>
          </p:cNvPr>
          <p:cNvSpPr txBox="1"/>
          <p:nvPr/>
        </p:nvSpPr>
        <p:spPr>
          <a:xfrm>
            <a:off x="-1" y="1782939"/>
            <a:ext cx="5857639" cy="1754326"/>
          </a:xfrm>
          <a:prstGeom prst="rect">
            <a:avLst/>
          </a:prstGeom>
          <a:noFill/>
        </p:spPr>
        <p:txBody>
          <a:bodyPr wrap="square">
            <a:spAutoFit/>
          </a:bodyPr>
          <a:lstStyle/>
          <a:p>
            <a:r>
              <a:rPr lang="vi-VN">
                <a:solidFill>
                  <a:srgbClr val="002060"/>
                </a:solidFill>
                <a:latin typeface="Times New Roman" panose="02020603050405020304" pitchFamily="18" charset="0"/>
                <a:cs typeface="Times New Roman" panose="02020603050405020304" pitchFamily="18" charset="0"/>
              </a:rPr>
              <a:t>B1: </a:t>
            </a:r>
            <a:r>
              <a:rPr lang="en-US">
                <a:solidFill>
                  <a:srgbClr val="002060"/>
                </a:solidFill>
                <a:latin typeface="Times New Roman" panose="02020603050405020304" pitchFamily="18" charset="0"/>
                <a:cs typeface="Times New Roman" panose="02020603050405020304" pitchFamily="18" charset="0"/>
              </a:rPr>
              <a:t>Chọn vào camera cần kiểm tra</a:t>
            </a:r>
            <a:endParaRPr lang="vi-VN">
              <a:solidFill>
                <a:srgbClr val="002060"/>
              </a:solidFill>
              <a:latin typeface="Times New Roman" panose="02020603050405020304" pitchFamily="18" charset="0"/>
              <a:cs typeface="Times New Roman" panose="02020603050405020304" pitchFamily="18" charset="0"/>
            </a:endParaRPr>
          </a:p>
          <a:p>
            <a:r>
              <a:rPr lang="vi-VN">
                <a:solidFill>
                  <a:srgbClr val="002060"/>
                </a:solidFill>
                <a:latin typeface="Times New Roman" panose="02020603050405020304" pitchFamily="18" charset="0"/>
                <a:cs typeface="Times New Roman" panose="02020603050405020304" pitchFamily="18" charset="0"/>
              </a:rPr>
              <a:t>B2: Chọn </a:t>
            </a:r>
            <a:r>
              <a:rPr lang="en-US">
                <a:solidFill>
                  <a:srgbClr val="002060"/>
                </a:solidFill>
                <a:latin typeface="Times New Roman" panose="02020603050405020304" pitchFamily="18" charset="0"/>
                <a:cs typeface="Times New Roman" panose="02020603050405020304" pitchFamily="18" charset="0"/>
              </a:rPr>
              <a:t>biểu tượng cài đặt</a:t>
            </a:r>
          </a:p>
          <a:p>
            <a:r>
              <a:rPr lang="vi-VN">
                <a:solidFill>
                  <a:srgbClr val="002060"/>
                </a:solidFill>
                <a:latin typeface="Times New Roman" panose="02020603050405020304" pitchFamily="18" charset="0"/>
                <a:cs typeface="Times New Roman" panose="02020603050405020304" pitchFamily="18" charset="0"/>
              </a:rPr>
              <a:t>B3: </a:t>
            </a:r>
            <a:r>
              <a:rPr lang="en-US">
                <a:solidFill>
                  <a:srgbClr val="002060"/>
                </a:solidFill>
                <a:latin typeface="Times New Roman" panose="02020603050405020304" pitchFamily="18" charset="0"/>
                <a:cs typeface="Times New Roman" panose="02020603050405020304" pitchFamily="18" charset="0"/>
              </a:rPr>
              <a:t>Chọn cập nhật firmwave:</a:t>
            </a:r>
          </a:p>
          <a:p>
            <a:r>
              <a:rPr lang="en-US">
                <a:solidFill>
                  <a:srgbClr val="002060"/>
                </a:solidFill>
                <a:latin typeface="Times New Roman" panose="02020603050405020304" pitchFamily="18" charset="0"/>
                <a:cs typeface="Times New Roman" panose="02020603050405020304" pitchFamily="18" charset="0"/>
              </a:rPr>
              <a:t>- Nếu đã là firmwave mới nhất sẽ không có dòng “Nâng cấp” </a:t>
            </a:r>
          </a:p>
          <a:p>
            <a:r>
              <a:rPr lang="en-US">
                <a:solidFill>
                  <a:srgbClr val="002060"/>
                </a:solidFill>
                <a:latin typeface="Times New Roman" panose="02020603050405020304" pitchFamily="18" charset="0"/>
                <a:cs typeface="Times New Roman" panose="02020603050405020304" pitchFamily="18" charset="0"/>
              </a:rPr>
              <a:t>- Nếu có firmwave mới thì chọn dòng “Nâng cấp” để cập nhật lên firmwave mới nhất cho camera</a:t>
            </a:r>
          </a:p>
        </p:txBody>
      </p:sp>
    </p:spTree>
    <p:extLst>
      <p:ext uri="{BB962C8B-B14F-4D97-AF65-F5344CB8AC3E}">
        <p14:creationId xmlns:p14="http://schemas.microsoft.com/office/powerpoint/2010/main" val="929048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DF280-C545-0ABC-690B-3ED1FFB5A971}"/>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55A81D9A-386D-C527-1C4C-57E645E239D7}"/>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3874D5E-51F6-5FFE-B5E0-595DE0AF8413}"/>
              </a:ext>
            </a:extLst>
          </p:cNvPr>
          <p:cNvSpPr txBox="1"/>
          <p:nvPr/>
        </p:nvSpPr>
        <p:spPr>
          <a:xfrm>
            <a:off x="0" y="677045"/>
            <a:ext cx="12192000" cy="400110"/>
          </a:xfrm>
          <a:prstGeom prst="rect">
            <a:avLst/>
          </a:prstGeom>
          <a:noFill/>
        </p:spPr>
        <p:txBody>
          <a:bodyPr wrap="square" rtlCol="0">
            <a:spAutoFit/>
          </a:bodyPr>
          <a:lstStyle/>
          <a:p>
            <a:r>
              <a:rPr lang="en-US" sz="2000" b="1" err="1">
                <a:solidFill>
                  <a:srgbClr val="F57226"/>
                </a:solidFill>
                <a:latin typeface="Times New Roman" panose="02020603050405020304" pitchFamily="18" charset="0"/>
                <a:cs typeface="Times New Roman" panose="02020603050405020304" pitchFamily="18" charset="0"/>
              </a:rPr>
              <a:t>Không</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xem</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được</a:t>
            </a:r>
            <a:r>
              <a:rPr lang="en-US" sz="2000" b="1">
                <a:solidFill>
                  <a:srgbClr val="F57226"/>
                </a:solidFill>
                <a:latin typeface="Times New Roman" panose="02020603050405020304" pitchFamily="18" charset="0"/>
                <a:cs typeface="Times New Roman" panose="02020603050405020304" pitchFamily="18" charset="0"/>
              </a:rPr>
              <a:t> camera ở </a:t>
            </a:r>
            <a:r>
              <a:rPr lang="en-US" sz="2000" b="1" err="1">
                <a:solidFill>
                  <a:srgbClr val="F57226"/>
                </a:solidFill>
                <a:latin typeface="Times New Roman" panose="02020603050405020304" pitchFamily="18" charset="0"/>
                <a:cs typeface="Times New Roman" panose="02020603050405020304" pitchFamily="18" charset="0"/>
              </a:rPr>
              <a:t>nhiều</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địa</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điểm</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khác</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nhau</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trong</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cùng</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tài</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khoản</a:t>
            </a:r>
            <a:endParaRPr lang="en-US" sz="2000" b="1">
              <a:solidFill>
                <a:srgbClr val="F57226"/>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C41FA61-568C-0059-5CA9-B1CA710A4F7D}"/>
              </a:ext>
            </a:extLst>
          </p:cNvPr>
          <p:cNvPicPr>
            <a:picLocks noChangeAspect="1"/>
          </p:cNvPicPr>
          <p:nvPr/>
        </p:nvPicPr>
        <p:blipFill>
          <a:blip r:embed="rId3"/>
          <a:stretch>
            <a:fillRect/>
          </a:stretch>
        </p:blipFill>
        <p:spPr>
          <a:xfrm>
            <a:off x="3260253" y="1338412"/>
            <a:ext cx="2161330" cy="4680000"/>
          </a:xfrm>
          <a:prstGeom prst="rect">
            <a:avLst/>
          </a:prstGeom>
        </p:spPr>
      </p:pic>
      <p:pic>
        <p:nvPicPr>
          <p:cNvPr id="9" name="Picture 8">
            <a:extLst>
              <a:ext uri="{FF2B5EF4-FFF2-40B4-BE49-F238E27FC236}">
                <a16:creationId xmlns:a16="http://schemas.microsoft.com/office/drawing/2014/main" id="{9B097172-237D-0860-CF8F-AB69C4D72836}"/>
              </a:ext>
            </a:extLst>
          </p:cNvPr>
          <p:cNvPicPr>
            <a:picLocks noChangeAspect="1"/>
          </p:cNvPicPr>
          <p:nvPr/>
        </p:nvPicPr>
        <p:blipFill>
          <a:blip r:embed="rId4"/>
          <a:stretch>
            <a:fillRect/>
          </a:stretch>
        </p:blipFill>
        <p:spPr>
          <a:xfrm>
            <a:off x="6770418" y="1338412"/>
            <a:ext cx="2161330" cy="4680000"/>
          </a:xfrm>
          <a:prstGeom prst="rect">
            <a:avLst/>
          </a:prstGeom>
        </p:spPr>
      </p:pic>
      <p:sp>
        <p:nvSpPr>
          <p:cNvPr id="11" name="Rectangle 6">
            <a:extLst>
              <a:ext uri="{FF2B5EF4-FFF2-40B4-BE49-F238E27FC236}">
                <a16:creationId xmlns:a16="http://schemas.microsoft.com/office/drawing/2014/main" id="{D6769BB7-E998-FCBA-D312-04C5A0A8E37F}"/>
              </a:ext>
            </a:extLst>
          </p:cNvPr>
          <p:cNvSpPr/>
          <p:nvPr/>
        </p:nvSpPr>
        <p:spPr>
          <a:xfrm>
            <a:off x="3174105" y="6033447"/>
            <a:ext cx="2333625" cy="492443"/>
          </a:xfrm>
          <a:prstGeom prst="rect">
            <a:avLst/>
          </a:prstGeom>
        </p:spPr>
        <p:txBody>
          <a:bodyPr wrap="square" lIns="91440" tIns="45720" rIns="91440" bIns="45720" anchor="t">
            <a:spAutoFit/>
          </a:bodyPr>
          <a:lstStyle/>
          <a:p>
            <a:pPr algn="ctr"/>
            <a:r>
              <a:rPr lang="en-US" sz="1300" b="1">
                <a:solidFill>
                  <a:srgbClr val="002060"/>
                </a:solidFill>
                <a:latin typeface="Times New Roman" panose="02020603050405020304" pitchFamily="18" charset="0"/>
                <a:cs typeface="Times New Roman" panose="02020603050405020304" pitchFamily="18" charset="0"/>
              </a:rPr>
              <a:t>B1: </a:t>
            </a:r>
            <a:r>
              <a:rPr lang="en-US" sz="1300" err="1">
                <a:solidFill>
                  <a:srgbClr val="002060"/>
                </a:solidFill>
                <a:latin typeface="Times New Roman" panose="02020603050405020304" pitchFamily="18" charset="0"/>
                <a:cs typeface="Times New Roman" panose="02020603050405020304" pitchFamily="18" charset="0"/>
              </a:rPr>
              <a:t>Tại</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trang</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chủ</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chọn</a:t>
            </a:r>
            <a:r>
              <a:rPr lang="en-US" sz="1300">
                <a:solidFill>
                  <a:srgbClr val="002060"/>
                </a:solidFill>
                <a:latin typeface="Times New Roman" panose="02020603050405020304" pitchFamily="18" charset="0"/>
                <a:cs typeface="Times New Roman" panose="02020603050405020304" pitchFamily="18" charset="0"/>
              </a:rPr>
              <a:t> tab “An Ninh”</a:t>
            </a:r>
          </a:p>
        </p:txBody>
      </p:sp>
      <p:sp>
        <p:nvSpPr>
          <p:cNvPr id="12" name="Rectangle 6">
            <a:extLst>
              <a:ext uri="{FF2B5EF4-FFF2-40B4-BE49-F238E27FC236}">
                <a16:creationId xmlns:a16="http://schemas.microsoft.com/office/drawing/2014/main" id="{ED26A367-6423-7B77-4740-3DB58E8509E9}"/>
              </a:ext>
            </a:extLst>
          </p:cNvPr>
          <p:cNvSpPr/>
          <p:nvPr/>
        </p:nvSpPr>
        <p:spPr>
          <a:xfrm>
            <a:off x="6684270" y="6037537"/>
            <a:ext cx="2333625" cy="492443"/>
          </a:xfrm>
          <a:prstGeom prst="rect">
            <a:avLst/>
          </a:prstGeom>
        </p:spPr>
        <p:txBody>
          <a:bodyPr wrap="square" lIns="91440" tIns="45720" rIns="91440" bIns="45720" anchor="t">
            <a:spAutoFit/>
          </a:bodyPr>
          <a:lstStyle/>
          <a:p>
            <a:pPr algn="ctr"/>
            <a:r>
              <a:rPr lang="en-US" sz="1300" b="1">
                <a:solidFill>
                  <a:srgbClr val="002060"/>
                </a:solidFill>
                <a:latin typeface="Times New Roman" panose="02020603050405020304" pitchFamily="18" charset="0"/>
                <a:cs typeface="Times New Roman" panose="02020603050405020304" pitchFamily="18" charset="0"/>
              </a:rPr>
              <a:t>B2: </a:t>
            </a:r>
            <a:r>
              <a:rPr lang="en-US" sz="1300" err="1">
                <a:solidFill>
                  <a:srgbClr val="002060"/>
                </a:solidFill>
                <a:latin typeface="Times New Roman" panose="02020603050405020304" pitchFamily="18" charset="0"/>
                <a:cs typeface="Times New Roman" panose="02020603050405020304" pitchFamily="18" charset="0"/>
              </a:rPr>
              <a:t>Chọn</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vào</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địa</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điểm</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sau</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đó</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chọn</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Tất</a:t>
            </a:r>
            <a:r>
              <a:rPr lang="en-US" sz="1300">
                <a:solidFill>
                  <a:srgbClr val="002060"/>
                </a:solidFill>
                <a:latin typeface="Times New Roman" panose="02020603050405020304" pitchFamily="18" charset="0"/>
                <a:cs typeface="Times New Roman" panose="02020603050405020304" pitchFamily="18" charset="0"/>
              </a:rPr>
              <a:t> </a:t>
            </a:r>
            <a:r>
              <a:rPr lang="en-US" sz="1300" err="1">
                <a:solidFill>
                  <a:srgbClr val="002060"/>
                </a:solidFill>
                <a:latin typeface="Times New Roman" panose="02020603050405020304" pitchFamily="18" charset="0"/>
                <a:cs typeface="Times New Roman" panose="02020603050405020304" pitchFamily="18" charset="0"/>
              </a:rPr>
              <a:t>cả</a:t>
            </a:r>
            <a:r>
              <a:rPr lang="en-US" sz="1300">
                <a:solidFill>
                  <a:srgbClr val="002060"/>
                </a:solidFill>
                <a:latin typeface="Times New Roman" panose="02020603050405020304" pitchFamily="18" charset="0"/>
                <a:cs typeface="Times New Roman" panose="02020603050405020304" pitchFamily="18" charset="0"/>
              </a:rPr>
              <a:t> camera”</a:t>
            </a:r>
          </a:p>
        </p:txBody>
      </p:sp>
      <p:sp>
        <p:nvSpPr>
          <p:cNvPr id="13" name="Rectangle: Rounded Corners 12">
            <a:extLst>
              <a:ext uri="{FF2B5EF4-FFF2-40B4-BE49-F238E27FC236}">
                <a16:creationId xmlns:a16="http://schemas.microsoft.com/office/drawing/2014/main" id="{44300A47-A56F-B950-612F-6F46B97935DB}"/>
              </a:ext>
            </a:extLst>
          </p:cNvPr>
          <p:cNvSpPr/>
          <p:nvPr/>
        </p:nvSpPr>
        <p:spPr>
          <a:xfrm>
            <a:off x="3866827" y="5463604"/>
            <a:ext cx="391886" cy="44267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Rectangle: Rounded Corners 13">
            <a:extLst>
              <a:ext uri="{FF2B5EF4-FFF2-40B4-BE49-F238E27FC236}">
                <a16:creationId xmlns:a16="http://schemas.microsoft.com/office/drawing/2014/main" id="{E75806D8-1A73-2734-14C1-70ED0109B4D5}"/>
              </a:ext>
            </a:extLst>
          </p:cNvPr>
          <p:cNvSpPr/>
          <p:nvPr/>
        </p:nvSpPr>
        <p:spPr>
          <a:xfrm>
            <a:off x="6852623" y="1659616"/>
            <a:ext cx="686512" cy="253160"/>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6" name="Rectangle: Rounded Corners 15">
            <a:extLst>
              <a:ext uri="{FF2B5EF4-FFF2-40B4-BE49-F238E27FC236}">
                <a16:creationId xmlns:a16="http://schemas.microsoft.com/office/drawing/2014/main" id="{08777D06-C5D2-EC25-E896-EC5A22823E70}"/>
              </a:ext>
            </a:extLst>
          </p:cNvPr>
          <p:cNvSpPr/>
          <p:nvPr/>
        </p:nvSpPr>
        <p:spPr>
          <a:xfrm flipH="1" flipV="1">
            <a:off x="7071180" y="3597032"/>
            <a:ext cx="981138" cy="340567"/>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924507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968CF-EA52-FBA6-6E41-8745E23890C9}"/>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6D43284A-856E-CDFE-4D17-DDA210DB3632}"/>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B8933B-1EBA-7201-4BCE-D14736EB99FD}"/>
              </a:ext>
            </a:extLst>
          </p:cNvPr>
          <p:cNvSpPr txBox="1"/>
          <p:nvPr/>
        </p:nvSpPr>
        <p:spPr>
          <a:xfrm>
            <a:off x="0" y="677045"/>
            <a:ext cx="12192000" cy="400110"/>
          </a:xfrm>
          <a:prstGeom prst="rect">
            <a:avLst/>
          </a:prstGeom>
          <a:noFill/>
        </p:spPr>
        <p:txBody>
          <a:bodyPr wrap="square" rtlCol="0">
            <a:spAutoFit/>
          </a:bodyPr>
          <a:lstStyle/>
          <a:p>
            <a:r>
              <a:rPr lang="en-US" sz="2000" b="1" err="1">
                <a:solidFill>
                  <a:srgbClr val="F57226"/>
                </a:solidFill>
                <a:latin typeface="Times New Roman" panose="02020603050405020304" pitchFamily="18" charset="0"/>
                <a:cs typeface="Times New Roman" panose="02020603050405020304" pitchFamily="18" charset="0"/>
              </a:rPr>
              <a:t>Không</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xem</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trực</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tiếp</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được</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nhiều</a:t>
            </a:r>
            <a:r>
              <a:rPr lang="en-US" sz="2000" b="1">
                <a:solidFill>
                  <a:srgbClr val="F57226"/>
                </a:solidFill>
                <a:latin typeface="Times New Roman" panose="02020603050405020304" pitchFamily="18" charset="0"/>
                <a:cs typeface="Times New Roman" panose="02020603050405020304" pitchFamily="18" charset="0"/>
              </a:rPr>
              <a:t> camera ở </a:t>
            </a:r>
            <a:r>
              <a:rPr lang="en-US" sz="2000" b="1" err="1">
                <a:solidFill>
                  <a:srgbClr val="F57226"/>
                </a:solidFill>
                <a:latin typeface="Times New Roman" panose="02020603050405020304" pitchFamily="18" charset="0"/>
                <a:cs typeface="Times New Roman" panose="02020603050405020304" pitchFamily="18" charset="0"/>
              </a:rPr>
              <a:t>dạng</a:t>
            </a:r>
            <a:r>
              <a:rPr lang="en-US" sz="2000" b="1">
                <a:solidFill>
                  <a:srgbClr val="F57226"/>
                </a:solidFill>
                <a:latin typeface="Times New Roman" panose="02020603050405020304" pitchFamily="18" charset="0"/>
                <a:cs typeface="Times New Roman" panose="02020603050405020304" pitchFamily="18" charset="0"/>
              </a:rPr>
              <a:t> </a:t>
            </a:r>
            <a:r>
              <a:rPr lang="en-US" sz="2000" b="1" err="1">
                <a:solidFill>
                  <a:srgbClr val="F57226"/>
                </a:solidFill>
                <a:latin typeface="Times New Roman" panose="02020603050405020304" pitchFamily="18" charset="0"/>
                <a:cs typeface="Times New Roman" panose="02020603050405020304" pitchFamily="18" charset="0"/>
              </a:rPr>
              <a:t>lưới</a:t>
            </a:r>
            <a:endParaRPr lang="en-US" sz="2000" b="1">
              <a:solidFill>
                <a:srgbClr val="F57226"/>
              </a:solidFill>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310CC5A5-38F4-5452-5D4B-F9B7ADC7EC31}"/>
              </a:ext>
            </a:extLst>
          </p:cNvPr>
          <p:cNvSpPr txBox="1"/>
          <p:nvPr/>
        </p:nvSpPr>
        <p:spPr>
          <a:xfrm>
            <a:off x="634707" y="5812909"/>
            <a:ext cx="1812585" cy="892552"/>
          </a:xfrm>
          <a:prstGeom prst="rect">
            <a:avLst/>
          </a:prstGeom>
          <a:noFill/>
        </p:spPr>
        <p:txBody>
          <a:bodyPr wrap="square" rtlCol="0">
            <a:spAutoFit/>
          </a:bodyPr>
          <a:lstStyle/>
          <a:p>
            <a:pPr algn="ctr"/>
            <a:r>
              <a:rPr lang="en-US" sz="1300" b="1">
                <a:latin typeface="Times New Roman" panose="02020603050405020304" pitchFamily="18" charset="0"/>
                <a:cs typeface="Times New Roman" panose="02020603050405020304" pitchFamily="18" charset="0"/>
              </a:rPr>
              <a:t>B1: </a:t>
            </a:r>
            <a:r>
              <a:rPr lang="en-US" sz="1300" err="1">
                <a:latin typeface="Times New Roman" panose="02020603050405020304" pitchFamily="18" charset="0"/>
                <a:cs typeface="Times New Roman" panose="02020603050405020304" pitchFamily="18" charset="0"/>
              </a:rPr>
              <a:t>Tại</a:t>
            </a:r>
            <a:r>
              <a:rPr lang="en-US" sz="1300">
                <a:latin typeface="Times New Roman" panose="02020603050405020304" pitchFamily="18" charset="0"/>
                <a:cs typeface="Times New Roman" panose="02020603050405020304" pitchFamily="18" charset="0"/>
              </a:rPr>
              <a:t> </a:t>
            </a:r>
            <a:r>
              <a:rPr lang="en-US" sz="1300" err="1">
                <a:latin typeface="Times New Roman" panose="02020603050405020304" pitchFamily="18" charset="0"/>
                <a:cs typeface="Times New Roman" panose="02020603050405020304" pitchFamily="18" charset="0"/>
              </a:rPr>
              <a:t>trang</a:t>
            </a:r>
            <a:r>
              <a:rPr lang="en-US" sz="1300">
                <a:latin typeface="Times New Roman" panose="02020603050405020304" pitchFamily="18" charset="0"/>
                <a:cs typeface="Times New Roman" panose="02020603050405020304" pitchFamily="18" charset="0"/>
              </a:rPr>
              <a:t> </a:t>
            </a:r>
          </a:p>
          <a:p>
            <a:pPr algn="ctr"/>
            <a:r>
              <a:rPr lang="en-US" sz="1300">
                <a:latin typeface="Times New Roman" panose="02020603050405020304" pitchFamily="18" charset="0"/>
                <a:cs typeface="Times New Roman" panose="02020603050405020304" pitchFamily="18" charset="0"/>
              </a:rPr>
              <a:t>“An </a:t>
            </a:r>
            <a:r>
              <a:rPr lang="en-US" sz="1300" err="1">
                <a:latin typeface="Times New Roman" panose="02020603050405020304" pitchFamily="18" charset="0"/>
                <a:cs typeface="Times New Roman" panose="02020603050405020304" pitchFamily="18" charset="0"/>
              </a:rPr>
              <a:t>ninh</a:t>
            </a:r>
            <a:r>
              <a:rPr lang="en-US" sz="1300">
                <a:latin typeface="Times New Roman" panose="02020603050405020304" pitchFamily="18" charset="0"/>
                <a:cs typeface="Times New Roman" panose="02020603050405020304" pitchFamily="18" charset="0"/>
              </a:rPr>
              <a:t>” </a:t>
            </a:r>
            <a:r>
              <a:rPr lang="en-US" sz="1300" err="1">
                <a:latin typeface="Times New Roman" panose="02020603050405020304" pitchFamily="18" charset="0"/>
                <a:cs typeface="Times New Roman" panose="02020603050405020304" pitchFamily="18" charset="0"/>
              </a:rPr>
              <a:t>và</a:t>
            </a:r>
            <a:r>
              <a:rPr lang="en-US" sz="1300">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chọn</a:t>
            </a:r>
            <a:r>
              <a:rPr lang="en-US" sz="1300">
                <a:solidFill>
                  <a:srgbClr val="F47229"/>
                </a:solidFill>
                <a:latin typeface="Times New Roman" panose="02020603050405020304" pitchFamily="18" charset="0"/>
                <a:cs typeface="Times New Roman" panose="02020603050405020304" pitchFamily="18" charset="0"/>
              </a:rPr>
              <a:t> 1 camera </a:t>
            </a:r>
            <a:r>
              <a:rPr lang="en-US" sz="1300" err="1">
                <a:solidFill>
                  <a:srgbClr val="F47229"/>
                </a:solidFill>
                <a:latin typeface="Times New Roman" panose="02020603050405020304" pitchFamily="18" charset="0"/>
                <a:cs typeface="Times New Roman" panose="02020603050405020304" pitchFamily="18" charset="0"/>
              </a:rPr>
              <a:t>bất</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kì</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để</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xem</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trực</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tiếp</a:t>
            </a:r>
            <a:endParaRPr lang="en-US" sz="1300">
              <a:solidFill>
                <a:srgbClr val="F47229"/>
              </a:solidFill>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10A4B56F-DE58-E3EA-6C9D-179D09201D09}"/>
              </a:ext>
            </a:extLst>
          </p:cNvPr>
          <p:cNvSpPr txBox="1"/>
          <p:nvPr/>
        </p:nvSpPr>
        <p:spPr>
          <a:xfrm>
            <a:off x="2660309" y="5812909"/>
            <a:ext cx="1828818" cy="492443"/>
          </a:xfrm>
          <a:prstGeom prst="rect">
            <a:avLst/>
          </a:prstGeom>
          <a:noFill/>
        </p:spPr>
        <p:txBody>
          <a:bodyPr wrap="square" rtlCol="0">
            <a:spAutoFit/>
          </a:bodyPr>
          <a:lstStyle/>
          <a:p>
            <a:pPr algn="ctr"/>
            <a:r>
              <a:rPr lang="en-US" sz="1300" b="1">
                <a:latin typeface="Times New Roman" panose="02020603050405020304" pitchFamily="18" charset="0"/>
                <a:cs typeface="Times New Roman" panose="02020603050405020304" pitchFamily="18" charset="0"/>
              </a:rPr>
              <a:t>B2: </a:t>
            </a:r>
            <a:r>
              <a:rPr lang="en-US" sz="1300" err="1">
                <a:latin typeface="Times New Roman" panose="02020603050405020304" pitchFamily="18" charset="0"/>
                <a:cs typeface="Times New Roman" panose="02020603050405020304" pitchFamily="18" charset="0"/>
              </a:rPr>
              <a:t>Đang</a:t>
            </a:r>
            <a:r>
              <a:rPr lang="en-US" sz="1300">
                <a:latin typeface="Times New Roman" panose="02020603050405020304" pitchFamily="18" charset="0"/>
                <a:cs typeface="Times New Roman" panose="02020603050405020304" pitchFamily="18" charset="0"/>
              </a:rPr>
              <a:t> </a:t>
            </a:r>
            <a:r>
              <a:rPr lang="en-US" sz="1300" err="1">
                <a:latin typeface="Times New Roman" panose="02020603050405020304" pitchFamily="18" charset="0"/>
                <a:cs typeface="Times New Roman" panose="02020603050405020304" pitchFamily="18" charset="0"/>
              </a:rPr>
              <a:t>xem</a:t>
            </a:r>
            <a:r>
              <a:rPr lang="en-US" sz="1300">
                <a:latin typeface="Times New Roman" panose="02020603050405020304" pitchFamily="18" charset="0"/>
                <a:cs typeface="Times New Roman" panose="02020603050405020304" pitchFamily="18" charset="0"/>
              </a:rPr>
              <a:t> </a:t>
            </a:r>
            <a:r>
              <a:rPr lang="en-US" sz="1300" err="1">
                <a:latin typeface="Times New Roman" panose="02020603050405020304" pitchFamily="18" charset="0"/>
                <a:cs typeface="Times New Roman" panose="02020603050405020304" pitchFamily="18" charset="0"/>
              </a:rPr>
              <a:t>trực</a:t>
            </a:r>
            <a:r>
              <a:rPr lang="en-US" sz="1300">
                <a:latin typeface="Times New Roman" panose="02020603050405020304" pitchFamily="18" charset="0"/>
                <a:cs typeface="Times New Roman" panose="02020603050405020304" pitchFamily="18" charset="0"/>
              </a:rPr>
              <a:t> </a:t>
            </a:r>
            <a:r>
              <a:rPr lang="en-US" sz="1300" err="1">
                <a:latin typeface="Times New Roman" panose="02020603050405020304" pitchFamily="18" charset="0"/>
                <a:cs typeface="Times New Roman" panose="02020603050405020304" pitchFamily="18" charset="0"/>
              </a:rPr>
              <a:t>tiếp</a:t>
            </a:r>
            <a:r>
              <a:rPr lang="en-US" sz="1300">
                <a:latin typeface="Times New Roman" panose="02020603050405020304" pitchFamily="18" charset="0"/>
                <a:cs typeface="Times New Roman" panose="02020603050405020304" pitchFamily="18" charset="0"/>
              </a:rPr>
              <a:t> cam </a:t>
            </a:r>
            <a:r>
              <a:rPr lang="en-US" sz="1300" err="1">
                <a:latin typeface="Times New Roman" panose="02020603050405020304" pitchFamily="18" charset="0"/>
                <a:cs typeface="Times New Roman" panose="02020603050405020304" pitchFamily="18" charset="0"/>
              </a:rPr>
              <a:t>vừa</a:t>
            </a:r>
            <a:r>
              <a:rPr lang="en-US" sz="1300">
                <a:latin typeface="Times New Roman" panose="02020603050405020304" pitchFamily="18" charset="0"/>
                <a:cs typeface="Times New Roman" panose="02020603050405020304" pitchFamily="18" charset="0"/>
              </a:rPr>
              <a:t> </a:t>
            </a:r>
            <a:r>
              <a:rPr lang="en-US" sz="1300" err="1">
                <a:latin typeface="Times New Roman" panose="02020603050405020304" pitchFamily="18" charset="0"/>
                <a:cs typeface="Times New Roman" panose="02020603050405020304" pitchFamily="18" charset="0"/>
              </a:rPr>
              <a:t>chọn</a:t>
            </a:r>
            <a:endParaRPr lang="en-US" sz="1300">
              <a:latin typeface="Times New Roman" panose="02020603050405020304" pitchFamily="18" charset="0"/>
              <a:cs typeface="Times New Roman" panose="02020603050405020304" pitchFamily="18" charset="0"/>
            </a:endParaRPr>
          </a:p>
        </p:txBody>
      </p:sp>
      <p:pic>
        <p:nvPicPr>
          <p:cNvPr id="59" name="Picture 58">
            <a:extLst>
              <a:ext uri="{FF2B5EF4-FFF2-40B4-BE49-F238E27FC236}">
                <a16:creationId xmlns:a16="http://schemas.microsoft.com/office/drawing/2014/main" id="{F361B9B1-5945-5700-5628-05F5DB805F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527" y="1763149"/>
            <a:ext cx="1828818" cy="3960000"/>
          </a:xfrm>
          <a:prstGeom prst="roundRect">
            <a:avLst>
              <a:gd name="adj" fmla="val 10272"/>
            </a:avLst>
          </a:prstGeom>
        </p:spPr>
      </p:pic>
      <p:pic>
        <p:nvPicPr>
          <p:cNvPr id="60" name="Picture 59">
            <a:extLst>
              <a:ext uri="{FF2B5EF4-FFF2-40B4-BE49-F238E27FC236}">
                <a16:creationId xmlns:a16="http://schemas.microsoft.com/office/drawing/2014/main" id="{5F2ABF77-0124-2F70-1CCB-15F7E3CD9A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5490" y="1763149"/>
            <a:ext cx="1828818" cy="3960000"/>
          </a:xfrm>
          <a:prstGeom prst="roundRect">
            <a:avLst>
              <a:gd name="adj" fmla="val 12597"/>
            </a:avLst>
          </a:prstGeom>
        </p:spPr>
      </p:pic>
      <p:sp>
        <p:nvSpPr>
          <p:cNvPr id="61" name="Rectangle 60">
            <a:extLst>
              <a:ext uri="{FF2B5EF4-FFF2-40B4-BE49-F238E27FC236}">
                <a16:creationId xmlns:a16="http://schemas.microsoft.com/office/drawing/2014/main" id="{2F3E0115-5D2B-49CB-13D6-5DAAF79E2149}"/>
              </a:ext>
            </a:extLst>
          </p:cNvPr>
          <p:cNvSpPr/>
          <p:nvPr/>
        </p:nvSpPr>
        <p:spPr>
          <a:xfrm>
            <a:off x="449746" y="1533349"/>
            <a:ext cx="4208016" cy="5257510"/>
          </a:xfrm>
          <a:prstGeom prst="rect">
            <a:avLst/>
          </a:prstGeom>
          <a:noFill/>
          <a:ln w="19050">
            <a:solidFill>
              <a:srgbClr val="F5722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0">
              <a:solidFill>
                <a:schemeClr val="accent2"/>
              </a:solidFill>
              <a:latin typeface="Times New Roman" panose="02020603050405020304" pitchFamily="18" charset="0"/>
              <a:cs typeface="Times New Roman" panose="02020603050405020304" pitchFamily="18" charset="0"/>
            </a:endParaRPr>
          </a:p>
        </p:txBody>
      </p:sp>
      <p:sp>
        <p:nvSpPr>
          <p:cNvPr id="62" name="Rectangle 61">
            <a:extLst>
              <a:ext uri="{FF2B5EF4-FFF2-40B4-BE49-F238E27FC236}">
                <a16:creationId xmlns:a16="http://schemas.microsoft.com/office/drawing/2014/main" id="{F38D6504-86AF-7972-7148-0E903AD754CD}"/>
              </a:ext>
            </a:extLst>
          </p:cNvPr>
          <p:cNvSpPr/>
          <p:nvPr/>
        </p:nvSpPr>
        <p:spPr>
          <a:xfrm>
            <a:off x="5038344" y="1533349"/>
            <a:ext cx="6821424" cy="5272941"/>
          </a:xfrm>
          <a:prstGeom prst="rect">
            <a:avLst/>
          </a:prstGeom>
          <a:noFill/>
          <a:ln w="19050">
            <a:solidFill>
              <a:srgbClr val="F5722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0">
              <a:solidFill>
                <a:schemeClr val="accent2"/>
              </a:solidFill>
              <a:latin typeface="Times New Roman" panose="02020603050405020304" pitchFamily="18" charset="0"/>
              <a:cs typeface="Times New Roman" panose="02020603050405020304" pitchFamily="18" charset="0"/>
            </a:endParaRPr>
          </a:p>
        </p:txBody>
      </p:sp>
      <p:pic>
        <p:nvPicPr>
          <p:cNvPr id="63" name="Picture 62">
            <a:extLst>
              <a:ext uri="{FF2B5EF4-FFF2-40B4-BE49-F238E27FC236}">
                <a16:creationId xmlns:a16="http://schemas.microsoft.com/office/drawing/2014/main" id="{FB3CDF71-31A9-C6E0-228B-4764AEFA7B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63058" y="1763149"/>
            <a:ext cx="1828818" cy="3960000"/>
          </a:xfrm>
          <a:prstGeom prst="roundRect">
            <a:avLst>
              <a:gd name="adj" fmla="val 13760"/>
            </a:avLst>
          </a:prstGeom>
        </p:spPr>
      </p:pic>
      <p:pic>
        <p:nvPicPr>
          <p:cNvPr id="64" name="Picture 63">
            <a:extLst>
              <a:ext uri="{FF2B5EF4-FFF2-40B4-BE49-F238E27FC236}">
                <a16:creationId xmlns:a16="http://schemas.microsoft.com/office/drawing/2014/main" id="{14ED107A-F44F-05FD-1C64-CFDE633758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74718" y="1763149"/>
            <a:ext cx="1828818" cy="3960000"/>
          </a:xfrm>
          <a:prstGeom prst="roundRect">
            <a:avLst>
              <a:gd name="adj" fmla="val 11434"/>
            </a:avLst>
          </a:prstGeom>
        </p:spPr>
      </p:pic>
      <p:pic>
        <p:nvPicPr>
          <p:cNvPr id="65" name="Picture 64">
            <a:extLst>
              <a:ext uri="{FF2B5EF4-FFF2-40B4-BE49-F238E27FC236}">
                <a16:creationId xmlns:a16="http://schemas.microsoft.com/office/drawing/2014/main" id="{9E1846B1-C576-4DCE-E7B4-D607586B96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8591" y="1763149"/>
            <a:ext cx="1828818" cy="3960000"/>
          </a:xfrm>
          <a:prstGeom prst="roundRect">
            <a:avLst>
              <a:gd name="adj" fmla="val 10853"/>
            </a:avLst>
          </a:prstGeom>
        </p:spPr>
      </p:pic>
      <p:sp>
        <p:nvSpPr>
          <p:cNvPr id="66" name="TextBox 65">
            <a:extLst>
              <a:ext uri="{FF2B5EF4-FFF2-40B4-BE49-F238E27FC236}">
                <a16:creationId xmlns:a16="http://schemas.microsoft.com/office/drawing/2014/main" id="{45163D20-3122-CA02-2CAE-377A0230A901}"/>
              </a:ext>
            </a:extLst>
          </p:cNvPr>
          <p:cNvSpPr txBox="1"/>
          <p:nvPr/>
        </p:nvSpPr>
        <p:spPr>
          <a:xfrm>
            <a:off x="5467631" y="5812909"/>
            <a:ext cx="1812585" cy="492443"/>
          </a:xfrm>
          <a:prstGeom prst="rect">
            <a:avLst/>
          </a:prstGeom>
          <a:noFill/>
        </p:spPr>
        <p:txBody>
          <a:bodyPr wrap="square" rtlCol="0">
            <a:spAutoFit/>
          </a:bodyPr>
          <a:lstStyle/>
          <a:p>
            <a:pPr algn="ctr"/>
            <a:r>
              <a:rPr lang="en-US" sz="1300" b="1">
                <a:latin typeface="Times New Roman" panose="02020603050405020304" pitchFamily="18" charset="0"/>
                <a:cs typeface="Times New Roman" panose="02020603050405020304" pitchFamily="18" charset="0"/>
              </a:rPr>
              <a:t>B1: </a:t>
            </a:r>
            <a:r>
              <a:rPr lang="en-US" sz="1300" err="1">
                <a:latin typeface="Times New Roman" panose="02020603050405020304" pitchFamily="18" charset="0"/>
                <a:cs typeface="Times New Roman" panose="02020603050405020304" pitchFamily="18" charset="0"/>
              </a:rPr>
              <a:t>Chọn</a:t>
            </a:r>
            <a:r>
              <a:rPr lang="en-US" sz="1300">
                <a:latin typeface="Times New Roman" panose="02020603050405020304" pitchFamily="18" charset="0"/>
                <a:cs typeface="Times New Roman" panose="02020603050405020304" pitchFamily="18" charset="0"/>
              </a:rPr>
              <a:t> </a:t>
            </a:r>
            <a:r>
              <a:rPr lang="en-US" sz="1300">
                <a:solidFill>
                  <a:srgbClr val="F47229"/>
                </a:solidFill>
                <a:latin typeface="Times New Roman" panose="02020603050405020304" pitchFamily="18" charset="0"/>
                <a:cs typeface="Times New Roman" panose="02020603050405020304" pitchFamily="18" charset="0"/>
              </a:rPr>
              <a:t>icon </a:t>
            </a:r>
            <a:r>
              <a:rPr lang="en-US" sz="1300" err="1">
                <a:solidFill>
                  <a:srgbClr val="F47229"/>
                </a:solidFill>
                <a:latin typeface="Times New Roman" panose="02020603050405020304" pitchFamily="18" charset="0"/>
                <a:cs typeface="Times New Roman" panose="02020603050405020304" pitchFamily="18" charset="0"/>
              </a:rPr>
              <a:t>chuyển</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chế</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độ</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xem</a:t>
            </a:r>
            <a:endParaRPr lang="en-US" sz="1300">
              <a:solidFill>
                <a:srgbClr val="F47229"/>
              </a:solidFill>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02784691-6D8F-32CF-F735-C5C72C656E84}"/>
              </a:ext>
            </a:extLst>
          </p:cNvPr>
          <p:cNvSpPr txBox="1"/>
          <p:nvPr/>
        </p:nvSpPr>
        <p:spPr>
          <a:xfrm>
            <a:off x="7571174" y="5812909"/>
            <a:ext cx="1812585" cy="492443"/>
          </a:xfrm>
          <a:prstGeom prst="rect">
            <a:avLst/>
          </a:prstGeom>
          <a:noFill/>
        </p:spPr>
        <p:txBody>
          <a:bodyPr wrap="square" rtlCol="0">
            <a:spAutoFit/>
          </a:bodyPr>
          <a:lstStyle/>
          <a:p>
            <a:pPr algn="ctr"/>
            <a:r>
              <a:rPr lang="en-US" sz="1300" b="1">
                <a:latin typeface="Times New Roman" panose="02020603050405020304" pitchFamily="18" charset="0"/>
                <a:cs typeface="Times New Roman" panose="02020603050405020304" pitchFamily="18" charset="0"/>
              </a:rPr>
              <a:t>B2: </a:t>
            </a:r>
            <a:r>
              <a:rPr lang="en-US" sz="1300" err="1">
                <a:solidFill>
                  <a:srgbClr val="F47229"/>
                </a:solidFill>
                <a:latin typeface="Times New Roman" panose="02020603050405020304" pitchFamily="18" charset="0"/>
                <a:cs typeface="Times New Roman" panose="02020603050405020304" pitchFamily="18" charset="0"/>
              </a:rPr>
              <a:t>Chọn</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chế</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độ</a:t>
            </a:r>
            <a:r>
              <a:rPr lang="en-US" sz="1300">
                <a:solidFill>
                  <a:srgbClr val="F47229"/>
                </a:solidFill>
                <a:latin typeface="Times New Roman" panose="02020603050405020304" pitchFamily="18" charset="0"/>
                <a:cs typeface="Times New Roman" panose="02020603050405020304" pitchFamily="18" charset="0"/>
              </a:rPr>
              <a:t> </a:t>
            </a:r>
          </a:p>
          <a:p>
            <a:pPr algn="ctr"/>
            <a:r>
              <a:rPr lang="en-US" sz="1300" err="1">
                <a:solidFill>
                  <a:srgbClr val="F47229"/>
                </a:solidFill>
                <a:latin typeface="Times New Roman" panose="02020603050405020304" pitchFamily="18" charset="0"/>
                <a:cs typeface="Times New Roman" panose="02020603050405020304" pitchFamily="18" charset="0"/>
              </a:rPr>
              <a:t>cần</a:t>
            </a:r>
            <a:r>
              <a:rPr lang="en-US" sz="1300">
                <a:solidFill>
                  <a:srgbClr val="F47229"/>
                </a:solidFill>
                <a:latin typeface="Times New Roman" panose="02020603050405020304" pitchFamily="18" charset="0"/>
                <a:cs typeface="Times New Roman" panose="02020603050405020304" pitchFamily="18" charset="0"/>
              </a:rPr>
              <a:t> </a:t>
            </a:r>
            <a:r>
              <a:rPr lang="en-US" sz="1300" err="1">
                <a:solidFill>
                  <a:srgbClr val="F47229"/>
                </a:solidFill>
                <a:latin typeface="Times New Roman" panose="02020603050405020304" pitchFamily="18" charset="0"/>
                <a:cs typeface="Times New Roman" panose="02020603050405020304" pitchFamily="18" charset="0"/>
              </a:rPr>
              <a:t>xem</a:t>
            </a:r>
            <a:endParaRPr lang="en-US" sz="1300">
              <a:solidFill>
                <a:srgbClr val="F47229"/>
              </a:solidFill>
              <a:latin typeface="Times New Roman" panose="02020603050405020304" pitchFamily="18" charset="0"/>
              <a:cs typeface="Times New Roman" panose="02020603050405020304" pitchFamily="18" charset="0"/>
            </a:endParaRPr>
          </a:p>
        </p:txBody>
      </p:sp>
      <p:sp>
        <p:nvSpPr>
          <p:cNvPr id="68" name="TextBox 67">
            <a:extLst>
              <a:ext uri="{FF2B5EF4-FFF2-40B4-BE49-F238E27FC236}">
                <a16:creationId xmlns:a16="http://schemas.microsoft.com/office/drawing/2014/main" id="{42A737CB-2F93-7077-47E3-E4A513DA478A}"/>
              </a:ext>
            </a:extLst>
          </p:cNvPr>
          <p:cNvSpPr txBox="1"/>
          <p:nvPr/>
        </p:nvSpPr>
        <p:spPr>
          <a:xfrm>
            <a:off x="9666601" y="5807733"/>
            <a:ext cx="1812585" cy="492443"/>
          </a:xfrm>
          <a:prstGeom prst="rect">
            <a:avLst/>
          </a:prstGeom>
          <a:noFill/>
        </p:spPr>
        <p:txBody>
          <a:bodyPr wrap="square" rtlCol="0">
            <a:spAutoFit/>
          </a:bodyPr>
          <a:lstStyle/>
          <a:p>
            <a:pPr algn="ctr"/>
            <a:r>
              <a:rPr lang="en-US" sz="1300" b="1">
                <a:latin typeface="Times New Roman" panose="02020603050405020304" pitchFamily="18" charset="0"/>
                <a:cs typeface="Times New Roman" panose="02020603050405020304" pitchFamily="18" charset="0"/>
              </a:rPr>
              <a:t>B3: </a:t>
            </a:r>
            <a:r>
              <a:rPr lang="en-US" sz="1300">
                <a:latin typeface="Times New Roman" panose="02020603050405020304" pitchFamily="18" charset="0"/>
                <a:cs typeface="Times New Roman" panose="02020603050405020304" pitchFamily="18" charset="0"/>
              </a:rPr>
              <a:t>Đang </a:t>
            </a:r>
            <a:r>
              <a:rPr lang="en-US" sz="1300" err="1">
                <a:latin typeface="Times New Roman" panose="02020603050405020304" pitchFamily="18" charset="0"/>
                <a:cs typeface="Times New Roman" panose="02020603050405020304" pitchFamily="18" charset="0"/>
              </a:rPr>
              <a:t>xem</a:t>
            </a:r>
            <a:r>
              <a:rPr lang="en-US" sz="1300">
                <a:latin typeface="Times New Roman" panose="02020603050405020304" pitchFamily="18" charset="0"/>
                <a:cs typeface="Times New Roman" panose="02020603050405020304" pitchFamily="18" charset="0"/>
              </a:rPr>
              <a:t> trực tiếp camera chế độ dạng </a:t>
            </a:r>
            <a:r>
              <a:rPr lang="en-US" sz="1300" err="1">
                <a:latin typeface="Times New Roman" panose="02020603050405020304" pitchFamily="18" charset="0"/>
                <a:cs typeface="Times New Roman" panose="02020603050405020304" pitchFamily="18" charset="0"/>
              </a:rPr>
              <a:t>lưới</a:t>
            </a:r>
            <a:endParaRPr lang="en-US" sz="1300">
              <a:latin typeface="Times New Roman" panose="02020603050405020304" pitchFamily="18" charset="0"/>
              <a:cs typeface="Times New Roman" panose="02020603050405020304" pitchFamily="18" charset="0"/>
            </a:endParaRPr>
          </a:p>
        </p:txBody>
      </p:sp>
      <p:sp>
        <p:nvSpPr>
          <p:cNvPr id="69" name="Rectangle: Rounded Corners 68">
            <a:extLst>
              <a:ext uri="{FF2B5EF4-FFF2-40B4-BE49-F238E27FC236}">
                <a16:creationId xmlns:a16="http://schemas.microsoft.com/office/drawing/2014/main" id="{7A103200-067C-7351-54DF-3AEF372D7740}"/>
              </a:ext>
            </a:extLst>
          </p:cNvPr>
          <p:cNvSpPr/>
          <p:nvPr/>
        </p:nvSpPr>
        <p:spPr>
          <a:xfrm>
            <a:off x="5479644" y="3089207"/>
            <a:ext cx="205918" cy="272248"/>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0">
              <a:latin typeface="Times New Roman" panose="02020603050405020304" pitchFamily="18" charset="0"/>
              <a:cs typeface="Times New Roman" panose="02020603050405020304" pitchFamily="18" charset="0"/>
            </a:endParaRPr>
          </a:p>
        </p:txBody>
      </p:sp>
      <p:sp>
        <p:nvSpPr>
          <p:cNvPr id="70" name="Rectangle: Rounded Corners 69">
            <a:extLst>
              <a:ext uri="{FF2B5EF4-FFF2-40B4-BE49-F238E27FC236}">
                <a16:creationId xmlns:a16="http://schemas.microsoft.com/office/drawing/2014/main" id="{56278128-44A0-3A37-B3C3-A9D822882D39}"/>
              </a:ext>
            </a:extLst>
          </p:cNvPr>
          <p:cNvSpPr/>
          <p:nvPr/>
        </p:nvSpPr>
        <p:spPr>
          <a:xfrm>
            <a:off x="8160493" y="3155909"/>
            <a:ext cx="674746" cy="1067953"/>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0">
              <a:latin typeface="Times New Roman" panose="02020603050405020304" pitchFamily="18" charset="0"/>
              <a:cs typeface="Times New Roman" panose="02020603050405020304" pitchFamily="18" charset="0"/>
            </a:endParaRPr>
          </a:p>
        </p:txBody>
      </p:sp>
      <p:sp>
        <p:nvSpPr>
          <p:cNvPr id="71" name="Rectangle: Rounded Corners 70">
            <a:extLst>
              <a:ext uri="{FF2B5EF4-FFF2-40B4-BE49-F238E27FC236}">
                <a16:creationId xmlns:a16="http://schemas.microsoft.com/office/drawing/2014/main" id="{91466D44-340E-861C-F277-945D43548BB2}"/>
              </a:ext>
            </a:extLst>
          </p:cNvPr>
          <p:cNvSpPr/>
          <p:nvPr/>
        </p:nvSpPr>
        <p:spPr>
          <a:xfrm>
            <a:off x="1815858" y="2519231"/>
            <a:ext cx="646808" cy="272248"/>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0">
              <a:latin typeface="Times New Roman" panose="02020603050405020304" pitchFamily="18" charset="0"/>
              <a:cs typeface="Times New Roman" panose="02020603050405020304" pitchFamily="18" charset="0"/>
            </a:endParaRPr>
          </a:p>
        </p:txBody>
      </p:sp>
      <p:sp>
        <p:nvSpPr>
          <p:cNvPr id="72" name="Title 5">
            <a:extLst>
              <a:ext uri="{FF2B5EF4-FFF2-40B4-BE49-F238E27FC236}">
                <a16:creationId xmlns:a16="http://schemas.microsoft.com/office/drawing/2014/main" id="{9475A5F2-E614-5B79-D64C-C70A044378A9}"/>
              </a:ext>
            </a:extLst>
          </p:cNvPr>
          <p:cNvSpPr txBox="1">
            <a:spLocks/>
          </p:cNvSpPr>
          <p:nvPr/>
        </p:nvSpPr>
        <p:spPr>
          <a:xfrm>
            <a:off x="6856808" y="1010830"/>
            <a:ext cx="4537112" cy="5587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F47229"/>
                </a:solidFill>
                <a:latin typeface="SVN-Gilroy" pitchFamily="2" charset="77"/>
                <a:ea typeface="+mj-ea"/>
                <a:cs typeface="+mj-cs"/>
              </a:defRPr>
            </a:lvl1pPr>
          </a:lstStyle>
          <a:p>
            <a:r>
              <a:rPr lang="en-US" sz="2000">
                <a:latin typeface="Times New Roman" panose="02020603050405020304" pitchFamily="18" charset="0"/>
                <a:cs typeface="Times New Roman" panose="02020603050405020304" pitchFamily="18" charset="0"/>
              </a:rPr>
              <a:t>Xem </a:t>
            </a:r>
            <a:r>
              <a:rPr lang="en-US" sz="2000" err="1">
                <a:latin typeface="Times New Roman" panose="02020603050405020304" pitchFamily="18" charset="0"/>
                <a:cs typeface="Times New Roman" panose="02020603050405020304" pitchFamily="18" charset="0"/>
              </a:rPr>
              <a:t>trực</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tiếp</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nhiều</a:t>
            </a:r>
            <a:r>
              <a:rPr lang="en-US" sz="2000">
                <a:latin typeface="Times New Roman" panose="02020603050405020304" pitchFamily="18" charset="0"/>
                <a:cs typeface="Times New Roman" panose="02020603050405020304" pitchFamily="18" charset="0"/>
              </a:rPr>
              <a:t> Camera</a:t>
            </a:r>
          </a:p>
        </p:txBody>
      </p:sp>
      <p:pic>
        <p:nvPicPr>
          <p:cNvPr id="73" name="Google Shape;413;p37">
            <a:extLst>
              <a:ext uri="{FF2B5EF4-FFF2-40B4-BE49-F238E27FC236}">
                <a16:creationId xmlns:a16="http://schemas.microsoft.com/office/drawing/2014/main" id="{DD650421-D360-E6D9-3CDF-E895A2718256}"/>
              </a:ext>
            </a:extLst>
          </p:cNvPr>
          <p:cNvPicPr preferRelativeResize="0"/>
          <p:nvPr/>
        </p:nvPicPr>
        <p:blipFill rotWithShape="1">
          <a:blip r:embed="rId7">
            <a:alphaModFix/>
          </a:blip>
          <a:srcRect l="28707" t="5582" r="28486" b="5702"/>
          <a:stretch/>
        </p:blipFill>
        <p:spPr>
          <a:xfrm>
            <a:off x="7464056" y="1651265"/>
            <a:ext cx="2020371" cy="4183767"/>
          </a:xfrm>
          <a:prstGeom prst="rect">
            <a:avLst/>
          </a:prstGeom>
          <a:noFill/>
          <a:ln>
            <a:noFill/>
          </a:ln>
        </p:spPr>
      </p:pic>
      <p:pic>
        <p:nvPicPr>
          <p:cNvPr id="74" name="Google Shape;413;p37">
            <a:extLst>
              <a:ext uri="{FF2B5EF4-FFF2-40B4-BE49-F238E27FC236}">
                <a16:creationId xmlns:a16="http://schemas.microsoft.com/office/drawing/2014/main" id="{D25B58F8-B909-CC80-B429-6FB736A4112F}"/>
              </a:ext>
            </a:extLst>
          </p:cNvPr>
          <p:cNvPicPr preferRelativeResize="0"/>
          <p:nvPr/>
        </p:nvPicPr>
        <p:blipFill rotWithShape="1">
          <a:blip r:embed="rId7">
            <a:alphaModFix/>
          </a:blip>
          <a:srcRect l="28707" t="5582" r="28486" b="5702"/>
          <a:stretch/>
        </p:blipFill>
        <p:spPr>
          <a:xfrm>
            <a:off x="9583429" y="1651026"/>
            <a:ext cx="2020371" cy="4183767"/>
          </a:xfrm>
          <a:prstGeom prst="rect">
            <a:avLst/>
          </a:prstGeom>
          <a:noFill/>
          <a:ln>
            <a:noFill/>
          </a:ln>
        </p:spPr>
      </p:pic>
      <p:pic>
        <p:nvPicPr>
          <p:cNvPr id="75" name="Google Shape;413;p37">
            <a:extLst>
              <a:ext uri="{FF2B5EF4-FFF2-40B4-BE49-F238E27FC236}">
                <a16:creationId xmlns:a16="http://schemas.microsoft.com/office/drawing/2014/main" id="{F2B0FD38-98D1-A658-1796-A2481D5713F0}"/>
              </a:ext>
            </a:extLst>
          </p:cNvPr>
          <p:cNvPicPr preferRelativeResize="0"/>
          <p:nvPr/>
        </p:nvPicPr>
        <p:blipFill rotWithShape="1">
          <a:blip r:embed="rId7">
            <a:alphaModFix/>
          </a:blip>
          <a:srcRect l="28707" t="5582" r="28486" b="5702"/>
          <a:stretch/>
        </p:blipFill>
        <p:spPr>
          <a:xfrm>
            <a:off x="5362814" y="1659389"/>
            <a:ext cx="2020371" cy="4183767"/>
          </a:xfrm>
          <a:prstGeom prst="rect">
            <a:avLst/>
          </a:prstGeom>
          <a:noFill/>
          <a:ln>
            <a:noFill/>
          </a:ln>
        </p:spPr>
      </p:pic>
      <p:pic>
        <p:nvPicPr>
          <p:cNvPr id="76" name="Google Shape;413;p37">
            <a:extLst>
              <a:ext uri="{FF2B5EF4-FFF2-40B4-BE49-F238E27FC236}">
                <a16:creationId xmlns:a16="http://schemas.microsoft.com/office/drawing/2014/main" id="{C27B5A1B-6763-267C-312A-B2AC3A8CE3C0}"/>
              </a:ext>
            </a:extLst>
          </p:cNvPr>
          <p:cNvPicPr preferRelativeResize="0"/>
          <p:nvPr/>
        </p:nvPicPr>
        <p:blipFill rotWithShape="1">
          <a:blip r:embed="rId7">
            <a:alphaModFix/>
          </a:blip>
          <a:srcRect l="28707" t="5582" r="28486" b="5702"/>
          <a:stretch/>
        </p:blipFill>
        <p:spPr>
          <a:xfrm>
            <a:off x="2569784" y="1651026"/>
            <a:ext cx="2020371" cy="4183767"/>
          </a:xfrm>
          <a:prstGeom prst="rect">
            <a:avLst/>
          </a:prstGeom>
          <a:noFill/>
          <a:ln>
            <a:noFill/>
          </a:ln>
        </p:spPr>
      </p:pic>
      <p:pic>
        <p:nvPicPr>
          <p:cNvPr id="77" name="Google Shape;413;p37">
            <a:extLst>
              <a:ext uri="{FF2B5EF4-FFF2-40B4-BE49-F238E27FC236}">
                <a16:creationId xmlns:a16="http://schemas.microsoft.com/office/drawing/2014/main" id="{8A9F3439-2D3F-1D31-2FBD-DA127C2817E1}"/>
              </a:ext>
            </a:extLst>
          </p:cNvPr>
          <p:cNvPicPr preferRelativeResize="0"/>
          <p:nvPr/>
        </p:nvPicPr>
        <p:blipFill rotWithShape="1">
          <a:blip r:embed="rId7">
            <a:alphaModFix/>
          </a:blip>
          <a:srcRect l="28707" t="5582" r="28486" b="5702"/>
          <a:stretch/>
        </p:blipFill>
        <p:spPr>
          <a:xfrm>
            <a:off x="542568" y="1651025"/>
            <a:ext cx="2020371" cy="4183767"/>
          </a:xfrm>
          <a:prstGeom prst="rect">
            <a:avLst/>
          </a:prstGeom>
          <a:noFill/>
          <a:ln>
            <a:noFill/>
          </a:ln>
        </p:spPr>
      </p:pic>
      <p:sp>
        <p:nvSpPr>
          <p:cNvPr id="78" name="Title 5">
            <a:extLst>
              <a:ext uri="{FF2B5EF4-FFF2-40B4-BE49-F238E27FC236}">
                <a16:creationId xmlns:a16="http://schemas.microsoft.com/office/drawing/2014/main" id="{A3CFCA94-3B1F-C91F-497F-3DB67DD3FCDC}"/>
              </a:ext>
            </a:extLst>
          </p:cNvPr>
          <p:cNvSpPr txBox="1">
            <a:spLocks/>
          </p:cNvSpPr>
          <p:nvPr/>
        </p:nvSpPr>
        <p:spPr>
          <a:xfrm>
            <a:off x="1158939" y="1013192"/>
            <a:ext cx="4537112" cy="5587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a:solidFill>
                  <a:srgbClr val="F47229"/>
                </a:solidFill>
                <a:latin typeface="SVN-Gilroy" pitchFamily="2" charset="77"/>
                <a:ea typeface="+mj-ea"/>
                <a:cs typeface="+mj-cs"/>
              </a:defRPr>
            </a:lvl1pPr>
          </a:lstStyle>
          <a:p>
            <a:r>
              <a:rPr lang="en-US" sz="2000">
                <a:latin typeface="Times New Roman" panose="02020603050405020304" pitchFamily="18" charset="0"/>
                <a:cs typeface="Times New Roman" panose="02020603050405020304" pitchFamily="18" charset="0"/>
              </a:rPr>
              <a:t>Xem </a:t>
            </a:r>
            <a:r>
              <a:rPr lang="en-US" sz="2000" err="1">
                <a:latin typeface="Times New Roman" panose="02020603050405020304" pitchFamily="18" charset="0"/>
                <a:cs typeface="Times New Roman" panose="02020603050405020304" pitchFamily="18" charset="0"/>
              </a:rPr>
              <a:t>trực</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tiếp</a:t>
            </a:r>
            <a:r>
              <a:rPr lang="en-US" sz="2000">
                <a:latin typeface="Times New Roman" panose="02020603050405020304" pitchFamily="18" charset="0"/>
                <a:cs typeface="Times New Roman" panose="02020603050405020304" pitchFamily="18" charset="0"/>
              </a:rPr>
              <a:t> 1 Camera</a:t>
            </a:r>
          </a:p>
        </p:txBody>
      </p:sp>
    </p:spTree>
    <p:extLst>
      <p:ext uri="{BB962C8B-B14F-4D97-AF65-F5344CB8AC3E}">
        <p14:creationId xmlns:p14="http://schemas.microsoft.com/office/powerpoint/2010/main" val="2928020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92C9E-44FE-6E3A-8D25-C84695074495}"/>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1F53E64A-3B14-262F-D0B0-B020BBD2B1AE}"/>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ED4E0FC-96E1-1A3C-7A8B-40C191B40DC2}"/>
              </a:ext>
            </a:extLst>
          </p:cNvPr>
          <p:cNvSpPr txBox="1"/>
          <p:nvPr/>
        </p:nvSpPr>
        <p:spPr>
          <a:xfrm>
            <a:off x="0" y="677045"/>
            <a:ext cx="12192000" cy="400110"/>
          </a:xfrm>
          <a:prstGeom prst="rect">
            <a:avLst/>
          </a:prstGeom>
          <a:noFill/>
        </p:spPr>
        <p:txBody>
          <a:bodyPr wrap="square" rtlCol="0">
            <a:spAutoFit/>
          </a:bodyPr>
          <a:lstStyle/>
          <a:p>
            <a:r>
              <a:rPr lang="en-US" sz="2000" b="1">
                <a:solidFill>
                  <a:srgbClr val="F57226"/>
                </a:solidFill>
                <a:latin typeface="Times New Roman" panose="02020603050405020304" pitchFamily="18" charset="0"/>
                <a:cs typeface="Times New Roman" panose="02020603050405020304" pitchFamily="18" charset="0"/>
              </a:rPr>
              <a:t>Xem live bị load màn hình đen</a:t>
            </a:r>
          </a:p>
        </p:txBody>
      </p:sp>
      <p:sp>
        <p:nvSpPr>
          <p:cNvPr id="15" name="TextBox 14">
            <a:extLst>
              <a:ext uri="{FF2B5EF4-FFF2-40B4-BE49-F238E27FC236}">
                <a16:creationId xmlns:a16="http://schemas.microsoft.com/office/drawing/2014/main" id="{9A16B27A-8B04-AE92-34BE-A964E1AF4438}"/>
              </a:ext>
            </a:extLst>
          </p:cNvPr>
          <p:cNvSpPr txBox="1"/>
          <p:nvPr/>
        </p:nvSpPr>
        <p:spPr>
          <a:xfrm>
            <a:off x="79899" y="2114209"/>
            <a:ext cx="6418555" cy="1477328"/>
          </a:xfrm>
          <a:prstGeom prst="rect">
            <a:avLst/>
          </a:prstGeom>
          <a:noFill/>
        </p:spPr>
        <p:txBody>
          <a:bodyPr wrap="square" rtlCol="0">
            <a:spAutoFit/>
          </a:bodyPr>
          <a:lstStyle/>
          <a:p>
            <a:pPr algn="just"/>
            <a:r>
              <a:rPr lang="en-US" err="1">
                <a:solidFill>
                  <a:srgbClr val="FF0000"/>
                </a:solidFill>
                <a:latin typeface="Times New Roman" panose="02020603050405020304" pitchFamily="18" charset="0"/>
                <a:cs typeface="Times New Roman" panose="02020603050405020304" pitchFamily="18" charset="0"/>
              </a:rPr>
              <a:t>Vấn</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đề</a:t>
            </a:r>
            <a:r>
              <a:rPr lang="en-US">
                <a:solidFill>
                  <a:srgbClr val="FF0000"/>
                </a:solidFill>
                <a:latin typeface="Times New Roman" panose="02020603050405020304" pitchFamily="18" charset="0"/>
                <a:cs typeface="Times New Roman" panose="02020603050405020304" pitchFamily="18" charset="0"/>
              </a:rPr>
              <a:t>: </a:t>
            </a:r>
            <a:r>
              <a:rPr lang="en-US">
                <a:solidFill>
                  <a:srgbClr val="002060"/>
                </a:solidFill>
                <a:latin typeface="Times New Roman" panose="02020603050405020304" pitchFamily="18" charset="0"/>
                <a:cs typeface="Times New Roman" panose="02020603050405020304" pitchFamily="18" charset="0"/>
              </a:rPr>
              <a:t>Bị lệch thời gian trên phone so với thực tế.</a:t>
            </a:r>
          </a:p>
          <a:p>
            <a:pPr algn="just"/>
            <a:br>
              <a:rPr lang="en-US">
                <a:solidFill>
                  <a:srgbClr val="002060"/>
                </a:solidFill>
                <a:latin typeface="Times New Roman" panose="02020603050405020304" pitchFamily="18" charset="0"/>
                <a:cs typeface="Times New Roman" panose="02020603050405020304" pitchFamily="18" charset="0"/>
              </a:rPr>
            </a:br>
            <a:r>
              <a:rPr lang="en-US" err="1">
                <a:solidFill>
                  <a:srgbClr val="FF0000"/>
                </a:solidFill>
                <a:latin typeface="Times New Roman" panose="02020603050405020304" pitchFamily="18" charset="0"/>
                <a:cs typeface="Times New Roman" panose="02020603050405020304" pitchFamily="18" charset="0"/>
              </a:rPr>
              <a:t>Cách</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khắc</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phục</a:t>
            </a:r>
            <a:r>
              <a:rPr lang="en-US">
                <a:solidFill>
                  <a:srgbClr val="FF0000"/>
                </a:solidFill>
                <a:latin typeface="Times New Roman" panose="02020603050405020304" pitchFamily="18" charset="0"/>
                <a:cs typeface="Times New Roman" panose="02020603050405020304" pitchFamily="18" charset="0"/>
              </a:rPr>
              <a:t>: </a:t>
            </a:r>
            <a:r>
              <a:rPr lang="en-US">
                <a:solidFill>
                  <a:srgbClr val="002060"/>
                </a:solidFill>
                <a:latin typeface="Times New Roman" panose="02020603050405020304" pitchFamily="18" charset="0"/>
                <a:cs typeface="Times New Roman" panose="02020603050405020304" pitchFamily="18" charset="0"/>
              </a:rPr>
              <a:t>Kiểm tra lại thời gian trên phone so với thực tế, nếu lệch thời gian thì vào cài đặt trên phone chỉnh lại thời gian cho đúng với thực tế, sau đó thử lại.</a:t>
            </a:r>
          </a:p>
        </p:txBody>
      </p:sp>
      <p:pic>
        <p:nvPicPr>
          <p:cNvPr id="3" name="Picture 2">
            <a:extLst>
              <a:ext uri="{FF2B5EF4-FFF2-40B4-BE49-F238E27FC236}">
                <a16:creationId xmlns:a16="http://schemas.microsoft.com/office/drawing/2014/main" id="{8AD934A1-FF8F-D41E-3572-A7556F0C19C4}"/>
              </a:ext>
            </a:extLst>
          </p:cNvPr>
          <p:cNvPicPr>
            <a:picLocks noChangeAspect="1"/>
          </p:cNvPicPr>
          <p:nvPr/>
        </p:nvPicPr>
        <p:blipFill>
          <a:blip r:embed="rId3"/>
          <a:stretch>
            <a:fillRect/>
          </a:stretch>
        </p:blipFill>
        <p:spPr>
          <a:xfrm>
            <a:off x="6995604" y="846798"/>
            <a:ext cx="4175464" cy="5164404"/>
          </a:xfrm>
          <a:prstGeom prst="rect">
            <a:avLst/>
          </a:prstGeom>
        </p:spPr>
      </p:pic>
    </p:spTree>
    <p:extLst>
      <p:ext uri="{BB962C8B-B14F-4D97-AF65-F5344CB8AC3E}">
        <p14:creationId xmlns:p14="http://schemas.microsoft.com/office/powerpoint/2010/main" val="1649892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98F07-F511-D7CE-E969-5A3D7F25F59C}"/>
            </a:ext>
          </a:extLst>
        </p:cNvPr>
        <p:cNvGrpSpPr/>
        <p:nvPr/>
      </p:nvGrpSpPr>
      <p:grpSpPr>
        <a:xfrm>
          <a:off x="0" y="0"/>
          <a:ext cx="0" cy="0"/>
          <a:chOff x="0" y="0"/>
          <a:chExt cx="0" cy="0"/>
        </a:xfrm>
      </p:grpSpPr>
      <p:pic>
        <p:nvPicPr>
          <p:cNvPr id="8" name="Picture 6" descr="FPT Telecom – FPT Telecom">
            <a:extLst>
              <a:ext uri="{FF2B5EF4-FFF2-40B4-BE49-F238E27FC236}">
                <a16:creationId xmlns:a16="http://schemas.microsoft.com/office/drawing/2014/main" id="{6D018D29-084B-5C50-1454-361C30CCA211}"/>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19044" y="171317"/>
            <a:ext cx="1541528" cy="508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4E21947-7980-B537-E92E-AC1C107DE09A}"/>
              </a:ext>
            </a:extLst>
          </p:cNvPr>
          <p:cNvSpPr txBox="1"/>
          <p:nvPr/>
        </p:nvSpPr>
        <p:spPr>
          <a:xfrm>
            <a:off x="0" y="677045"/>
            <a:ext cx="12192000" cy="400110"/>
          </a:xfrm>
          <a:prstGeom prst="rect">
            <a:avLst/>
          </a:prstGeom>
          <a:noFill/>
        </p:spPr>
        <p:txBody>
          <a:bodyPr wrap="square" rtlCol="0">
            <a:spAutoFit/>
          </a:bodyPr>
          <a:lstStyle/>
          <a:p>
            <a:r>
              <a:rPr lang="en-US" sz="2000" b="1">
                <a:solidFill>
                  <a:srgbClr val="F57226"/>
                </a:solidFill>
                <a:latin typeface="Times New Roman" panose="02020603050405020304" pitchFamily="18" charset="0"/>
                <a:cs typeface="Times New Roman" panose="02020603050405020304" pitchFamily="18" charset="0"/>
              </a:rPr>
              <a:t>Không thông báo trên app, không có khoảnh khắc</a:t>
            </a:r>
          </a:p>
        </p:txBody>
      </p:sp>
      <p:sp>
        <p:nvSpPr>
          <p:cNvPr id="15" name="TextBox 14">
            <a:extLst>
              <a:ext uri="{FF2B5EF4-FFF2-40B4-BE49-F238E27FC236}">
                <a16:creationId xmlns:a16="http://schemas.microsoft.com/office/drawing/2014/main" id="{E8A4C452-D16D-CD09-544C-73F455E7FA2B}"/>
              </a:ext>
            </a:extLst>
          </p:cNvPr>
          <p:cNvSpPr txBox="1"/>
          <p:nvPr/>
        </p:nvSpPr>
        <p:spPr>
          <a:xfrm>
            <a:off x="219044" y="1998800"/>
            <a:ext cx="6639541" cy="2585323"/>
          </a:xfrm>
          <a:prstGeom prst="rect">
            <a:avLst/>
          </a:prstGeom>
          <a:noFill/>
        </p:spPr>
        <p:txBody>
          <a:bodyPr wrap="square" rtlCol="0">
            <a:spAutoFit/>
          </a:bodyPr>
          <a:lstStyle/>
          <a:p>
            <a:r>
              <a:rPr lang="en-US" err="1">
                <a:solidFill>
                  <a:srgbClr val="FF0000"/>
                </a:solidFill>
                <a:latin typeface="Times New Roman" panose="02020603050405020304" pitchFamily="18" charset="0"/>
                <a:cs typeface="Times New Roman" panose="02020603050405020304" pitchFamily="18" charset="0"/>
              </a:rPr>
              <a:t>Vấn</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đề</a:t>
            </a:r>
            <a:r>
              <a:rPr lang="en-US">
                <a:solidFill>
                  <a:srgbClr val="FF0000"/>
                </a:solidFill>
                <a:latin typeface="Times New Roman" panose="02020603050405020304" pitchFamily="18" charset="0"/>
                <a:cs typeface="Times New Roman" panose="02020603050405020304" pitchFamily="18" charset="0"/>
              </a:rPr>
              <a:t>: </a:t>
            </a:r>
            <a:r>
              <a:rPr lang="en-US">
                <a:solidFill>
                  <a:srgbClr val="002060"/>
                </a:solidFill>
                <a:latin typeface="Times New Roman" panose="02020603050405020304" pitchFamily="18" charset="0"/>
                <a:cs typeface="Times New Roman" panose="02020603050405020304" pitchFamily="18" charset="0"/>
              </a:rPr>
              <a:t>Trên phone đang tắt cảnh báo ứng dụng FPT Life hoặc đang tắt cài đặt “Phát hiện chuyển động” trên app </a:t>
            </a:r>
          </a:p>
          <a:p>
            <a:endParaRPr lang="en-US">
              <a:solidFill>
                <a:srgbClr val="002060"/>
              </a:solidFill>
              <a:latin typeface="Times New Roman" panose="02020603050405020304" pitchFamily="18" charset="0"/>
              <a:cs typeface="Times New Roman" panose="02020603050405020304" pitchFamily="18" charset="0"/>
            </a:endParaRPr>
          </a:p>
          <a:p>
            <a:r>
              <a:rPr lang="en-US">
                <a:solidFill>
                  <a:srgbClr val="FF0000"/>
                </a:solidFill>
                <a:latin typeface="Times New Roman" panose="02020603050405020304" pitchFamily="18" charset="0"/>
                <a:cs typeface="Times New Roman" panose="02020603050405020304" pitchFamily="18" charset="0"/>
              </a:rPr>
              <a:t>Cách </a:t>
            </a:r>
            <a:r>
              <a:rPr lang="en-US" err="1">
                <a:solidFill>
                  <a:srgbClr val="FF0000"/>
                </a:solidFill>
                <a:latin typeface="Times New Roman" panose="02020603050405020304" pitchFamily="18" charset="0"/>
                <a:cs typeface="Times New Roman" panose="02020603050405020304" pitchFamily="18" charset="0"/>
              </a:rPr>
              <a:t>khắc</a:t>
            </a:r>
            <a:r>
              <a:rPr lang="en-US">
                <a:solidFill>
                  <a:srgbClr val="FF0000"/>
                </a:solidFill>
                <a:latin typeface="Times New Roman" panose="02020603050405020304" pitchFamily="18" charset="0"/>
                <a:cs typeface="Times New Roman" panose="02020603050405020304" pitchFamily="18" charset="0"/>
              </a:rPr>
              <a:t> </a:t>
            </a:r>
            <a:r>
              <a:rPr lang="en-US" err="1">
                <a:solidFill>
                  <a:srgbClr val="FF0000"/>
                </a:solidFill>
                <a:latin typeface="Times New Roman" panose="02020603050405020304" pitchFamily="18" charset="0"/>
                <a:cs typeface="Times New Roman" panose="02020603050405020304" pitchFamily="18" charset="0"/>
              </a:rPr>
              <a:t>phục</a:t>
            </a:r>
            <a:r>
              <a:rPr lang="en-US">
                <a:solidFill>
                  <a:srgbClr val="FF0000"/>
                </a:solidFill>
                <a:latin typeface="Times New Roman" panose="02020603050405020304" pitchFamily="18" charset="0"/>
                <a:cs typeface="Times New Roman" panose="02020603050405020304" pitchFamily="18" charset="0"/>
              </a:rPr>
              <a:t>:</a:t>
            </a:r>
            <a:br>
              <a:rPr lang="en-US">
                <a:solidFill>
                  <a:srgbClr val="002060"/>
                </a:solidFill>
                <a:latin typeface="Times New Roman" panose="02020603050405020304" pitchFamily="18" charset="0"/>
                <a:cs typeface="Times New Roman" panose="02020603050405020304" pitchFamily="18" charset="0"/>
              </a:rPr>
            </a:br>
            <a:r>
              <a:rPr lang="en-US" b="1">
                <a:solidFill>
                  <a:srgbClr val="002060"/>
                </a:solidFill>
                <a:latin typeface="Times New Roman" panose="02020603050405020304" pitchFamily="18" charset="0"/>
                <a:cs typeface="Times New Roman" panose="02020603050405020304" pitchFamily="18" charset="0"/>
              </a:rPr>
              <a:t>B1: </a:t>
            </a:r>
            <a:r>
              <a:rPr lang="en-US">
                <a:solidFill>
                  <a:srgbClr val="002060"/>
                </a:solidFill>
                <a:latin typeface="Times New Roman" panose="02020603050405020304" pitchFamily="18" charset="0"/>
                <a:cs typeface="Times New Roman" panose="02020603050405020304" pitchFamily="18" charset="0"/>
              </a:rPr>
              <a:t>Kiểm tra lại cài đặt ứng dụng FPT Life trên phone đã cho phép quyền thông báo lên chưa. Nếu chưa cho phép thì bật lại</a:t>
            </a:r>
            <a:br>
              <a:rPr lang="en-US">
                <a:solidFill>
                  <a:srgbClr val="002060"/>
                </a:solidFill>
                <a:latin typeface="Times New Roman" panose="02020603050405020304" pitchFamily="18" charset="0"/>
                <a:cs typeface="Times New Roman" panose="02020603050405020304" pitchFamily="18" charset="0"/>
              </a:rPr>
            </a:br>
            <a:r>
              <a:rPr lang="en-US" b="1">
                <a:solidFill>
                  <a:srgbClr val="002060"/>
                </a:solidFill>
                <a:latin typeface="Times New Roman" panose="02020603050405020304" pitchFamily="18" charset="0"/>
                <a:cs typeface="Times New Roman" panose="02020603050405020304" pitchFamily="18" charset="0"/>
              </a:rPr>
              <a:t>B2. </a:t>
            </a:r>
            <a:r>
              <a:rPr lang="en-US">
                <a:solidFill>
                  <a:srgbClr val="002060"/>
                </a:solidFill>
                <a:latin typeface="Times New Roman" panose="02020603050405020304" pitchFamily="18" charset="0"/>
                <a:cs typeface="Times New Roman" panose="02020603050405020304" pitchFamily="18" charset="0"/>
              </a:rPr>
              <a:t>Vào app FPT Life &gt; chọn Camera không có thông báo &gt; chọn Cài đặt &gt; Chọn Tự động cảnh báo &gt; Bật tính năng “Phát hiện chuyển động” </a:t>
            </a:r>
          </a:p>
        </p:txBody>
      </p:sp>
      <p:pic>
        <p:nvPicPr>
          <p:cNvPr id="4" name="Picture 3">
            <a:extLst>
              <a:ext uri="{FF2B5EF4-FFF2-40B4-BE49-F238E27FC236}">
                <a16:creationId xmlns:a16="http://schemas.microsoft.com/office/drawing/2014/main" id="{24ED97D9-AC65-E49F-1CC6-C31AD9B29B8E}"/>
              </a:ext>
            </a:extLst>
          </p:cNvPr>
          <p:cNvPicPr>
            <a:picLocks noChangeAspect="1"/>
          </p:cNvPicPr>
          <p:nvPr/>
        </p:nvPicPr>
        <p:blipFill>
          <a:blip r:embed="rId3"/>
          <a:stretch>
            <a:fillRect/>
          </a:stretch>
        </p:blipFill>
        <p:spPr>
          <a:xfrm>
            <a:off x="8167933" y="933960"/>
            <a:ext cx="2928783" cy="4438003"/>
          </a:xfrm>
          <a:prstGeom prst="rect">
            <a:avLst/>
          </a:prstGeom>
        </p:spPr>
      </p:pic>
      <p:sp>
        <p:nvSpPr>
          <p:cNvPr id="7" name="TextBox 6">
            <a:extLst>
              <a:ext uri="{FF2B5EF4-FFF2-40B4-BE49-F238E27FC236}">
                <a16:creationId xmlns:a16="http://schemas.microsoft.com/office/drawing/2014/main" id="{F6931083-33E5-A89E-623B-4EDEFFB7687F}"/>
              </a:ext>
            </a:extLst>
          </p:cNvPr>
          <p:cNvSpPr txBox="1"/>
          <p:nvPr/>
        </p:nvSpPr>
        <p:spPr>
          <a:xfrm>
            <a:off x="7596324" y="5739374"/>
            <a:ext cx="4296793" cy="369332"/>
          </a:xfrm>
          <a:prstGeom prst="rect">
            <a:avLst/>
          </a:prstGeom>
          <a:noFill/>
        </p:spPr>
        <p:txBody>
          <a:bodyPr wrap="square" rtlCol="0">
            <a:spAutoFit/>
          </a:bodyPr>
          <a:lstStyle/>
          <a:p>
            <a:pPr algn="ctr"/>
            <a:r>
              <a:rPr lang="en-US">
                <a:solidFill>
                  <a:srgbClr val="FF0000"/>
                </a:solidFill>
                <a:latin typeface="Times New Roman" panose="02020603050405020304" pitchFamily="18" charset="0"/>
                <a:cs typeface="Times New Roman" panose="02020603050405020304" pitchFamily="18" charset="0"/>
              </a:rPr>
              <a:t>Hiển thị trên app</a:t>
            </a:r>
            <a:endParaRPr lang="vi-VN">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64841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TotalTime>
  <Words>832</Words>
  <Application>Microsoft Office PowerPoint</Application>
  <PresentationFormat>Widescreen</PresentationFormat>
  <Paragraphs>67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SVN-Gilroy</vt:lpstr>
      <vt:lpstr>Times New Roman</vt:lpstr>
      <vt:lpstr>Office Theme</vt:lpstr>
      <vt:lpstr>CÁC VẤN ĐỀ THƯỜNG GẶP VÀ CÁCH XỬ LÝ</vt:lpstr>
      <vt:lpstr>PowerPoint Presentation</vt:lpstr>
      <vt:lpstr>PowerPoint Presentation</vt:lpstr>
      <vt:lpstr>PowerPoint Presentation</vt:lpstr>
      <vt:lpstr>PowerPoint Presentation</vt:lpstr>
      <vt:lpstr>PowerPoint Presentation</vt:lpstr>
      <vt:lpstr>PowerPoint Presentation</vt:lpstr>
      <vt:lpstr>CÁC VẤN ĐỀ THƯỜNG GẶP VÀ CÁCH XỬ LÝ</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Phuong Mai Van</cp:lastModifiedBy>
  <cp:revision>8</cp:revision>
  <dcterms:created xsi:type="dcterms:W3CDTF">2025-11-20T09:52:56Z</dcterms:created>
  <dcterms:modified xsi:type="dcterms:W3CDTF">2025-12-16T08:16:05Z</dcterms:modified>
</cp:coreProperties>
</file>